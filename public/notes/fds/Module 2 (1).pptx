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y="6858000" cx="9144000"/>
  <p:notesSz cx="6858000" cy="9144000"/>
  <p:embeddedFontLst>
    <p:embeddedFont>
      <p:font typeface="Raleway"/>
      <p:regular r:id="rId73"/>
      <p:bold r:id="rId74"/>
      <p:italic r:id="rId75"/>
      <p:boldItalic r:id="rId76"/>
    </p:embeddedFont>
    <p:embeddedFont>
      <p:font typeface="Lato"/>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1" roundtripDataSignature="AMtx7mh/wjRgcnx/hX+EuFkVPjRChpuO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7E7BFC-4989-4B1F-BA66-CAACD3B82B48}">
  <a:tblStyle styleId="{797E7BFC-4989-4B1F-BA66-CAACD3B82B4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Lato-boldItalic.fntdata"/><Relationship Id="rId81"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aleway-regular.fntdata"/><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aleway-italic.fntdata"/><Relationship Id="rId30" Type="http://schemas.openxmlformats.org/officeDocument/2006/relationships/slide" Target="slides/slide24.xml"/><Relationship Id="rId74" Type="http://schemas.openxmlformats.org/officeDocument/2006/relationships/font" Target="fonts/Raleway-bold.fntdata"/><Relationship Id="rId33" Type="http://schemas.openxmlformats.org/officeDocument/2006/relationships/slide" Target="slides/slide27.xml"/><Relationship Id="rId77" Type="http://schemas.openxmlformats.org/officeDocument/2006/relationships/font" Target="fonts/Lato-regular.fntdata"/><Relationship Id="rId32" Type="http://schemas.openxmlformats.org/officeDocument/2006/relationships/slide" Target="slides/slide26.xml"/><Relationship Id="rId76" Type="http://schemas.openxmlformats.org/officeDocument/2006/relationships/font" Target="fonts/Raleway-boldItalic.fntdata"/><Relationship Id="rId35" Type="http://schemas.openxmlformats.org/officeDocument/2006/relationships/slide" Target="slides/slide29.xml"/><Relationship Id="rId79" Type="http://schemas.openxmlformats.org/officeDocument/2006/relationships/font" Target="fonts/Lato-italic.fntdata"/><Relationship Id="rId34" Type="http://schemas.openxmlformats.org/officeDocument/2006/relationships/slide" Target="slides/slide28.xml"/><Relationship Id="rId78" Type="http://schemas.openxmlformats.org/officeDocument/2006/relationships/font" Target="fonts/Lato-bold.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85563ff4c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c85563ff4c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85563ff4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3c85563ff4c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85563ff4c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c85563ff4c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85563ff4c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c85563ff4c_0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85563ff4c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c85563ff4c_0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85563ff4c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c85563ff4c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85563ff4c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c85563ff4c_0_2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85563ff4c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c85563ff4c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85563ff4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c85563ff4c_0_2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85563ff4c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c85563ff4c_0_2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85563ff4c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c85563ff4c_0_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85563ff4c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c85563ff4c_0_3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85563ff4c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c85563ff4c_0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85563ff4c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c85563ff4c_0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85563ff4c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c85563ff4c_0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85563ff4c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c85563ff4c_0_3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85563ff4c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c85563ff4c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85563ff4c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c85563ff4c_0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85563ff4c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c85563ff4c_0_3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85563ff4c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c85563ff4c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85563ff4c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c85563ff4c_0_3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c85563ff4c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c85563ff4c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85563ff4c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c85563ff4c_0_3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85563ff4c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c85563ff4c_0_4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85563ff4c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c85563ff4c_0_4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85563ff4c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c85563ff4c_0_4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85563ff4c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c85563ff4c_0_4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85563ff4c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c85563ff4c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85563ff4c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c85563ff4c_0_4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85563ff4c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c85563ff4c_0_4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85563ff4c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c85563ff4c_0_4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85563ff4c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c85563ff4c_0_4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85563ff4c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c85563ff4c_0_4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c85563ff4c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c85563ff4c_0_4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85563ff4c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3c85563ff4c_0_5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c85563ff4c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c85563ff4c_0_5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c85563ff4c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3c85563ff4c_0_5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85563ff4c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c85563ff4c_0_5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85563ff4c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c85563ff4c_0_5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85563ff4c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c85563ff4c_0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8903ed47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c8903ed477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8903ed47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c8903ed477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c8903ed47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c8903ed477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c8903ed47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c8903ed477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8903ed47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3c8903ed477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c8903ed47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c8903ed477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c8903ed47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c8903ed477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8903ed47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c8903ed477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c8903ed47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3c8903ed477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c8903ed47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c8903ed477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c8903ed47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c8903ed477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c8903ed47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c8903ed477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c8903ed47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c8903ed477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c8903ed47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c8903ed477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c8903ed47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c8903ed477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c8903ed47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c8903ed477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c8903ed477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3c8903ed477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c8903ed47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c8903ed477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c8903ed47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c8903ed477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8903ed47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c8903ed477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c8903ed47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c8903ed477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c8903ed47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3c8903ed477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c8903ed47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g3c8903ed477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c85563ff4c_0_138"/>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g3c85563ff4c_0_138"/>
          <p:cNvGrpSpPr/>
          <p:nvPr/>
        </p:nvGrpSpPr>
        <p:grpSpPr>
          <a:xfrm>
            <a:off x="830392" y="1588427"/>
            <a:ext cx="745763" cy="61102"/>
            <a:chOff x="4580561" y="2589004"/>
            <a:chExt cx="1064464" cy="25200"/>
          </a:xfrm>
        </p:grpSpPr>
        <p:sp>
          <p:nvSpPr>
            <p:cNvPr id="12" name="Google Shape;12;g3c85563ff4c_0_13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3c85563ff4c_0_13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g3c85563ff4c_0_138"/>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g3c85563ff4c_0_138"/>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g3c85563ff4c_0_13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g3c85563ff4c_0_146"/>
          <p:cNvGrpSpPr/>
          <p:nvPr/>
        </p:nvGrpSpPr>
        <p:grpSpPr>
          <a:xfrm>
            <a:off x="830392" y="1588427"/>
            <a:ext cx="745763" cy="61102"/>
            <a:chOff x="4580561" y="2589004"/>
            <a:chExt cx="1064464" cy="25200"/>
          </a:xfrm>
        </p:grpSpPr>
        <p:sp>
          <p:nvSpPr>
            <p:cNvPr id="19" name="Google Shape;19;g3c85563ff4c_0_14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3c85563ff4c_0_14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g3c85563ff4c_0_146"/>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g3c85563ff4c_0_14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3c85563ff4c_0_152"/>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g3c85563ff4c_0_152"/>
          <p:cNvGrpSpPr/>
          <p:nvPr/>
        </p:nvGrpSpPr>
        <p:grpSpPr>
          <a:xfrm>
            <a:off x="830392" y="1588427"/>
            <a:ext cx="745763" cy="61102"/>
            <a:chOff x="4580561" y="2589004"/>
            <a:chExt cx="1064464" cy="25200"/>
          </a:xfrm>
        </p:grpSpPr>
        <p:sp>
          <p:nvSpPr>
            <p:cNvPr id="26" name="Google Shape;26;g3c85563ff4c_0_15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c85563ff4c_0_15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g3c85563ff4c_0_152"/>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g3c85563ff4c_0_152"/>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g3c85563ff4c_0_15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g3c85563ff4c_0_160"/>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g3c85563ff4c_0_160"/>
          <p:cNvGrpSpPr/>
          <p:nvPr/>
        </p:nvGrpSpPr>
        <p:grpSpPr>
          <a:xfrm>
            <a:off x="830392" y="1588427"/>
            <a:ext cx="745763" cy="61102"/>
            <a:chOff x="4580561" y="2589004"/>
            <a:chExt cx="1064464" cy="25200"/>
          </a:xfrm>
        </p:grpSpPr>
        <p:sp>
          <p:nvSpPr>
            <p:cNvPr id="34" name="Google Shape;34;g3c85563ff4c_0_1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c85563ff4c_0_1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3c85563ff4c_0_160"/>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g3c85563ff4c_0_160"/>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g3c85563ff4c_0_160"/>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g3c85563ff4c_0_16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g3c85563ff4c_0_169"/>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g3c85563ff4c_0_169"/>
          <p:cNvGrpSpPr/>
          <p:nvPr/>
        </p:nvGrpSpPr>
        <p:grpSpPr>
          <a:xfrm>
            <a:off x="830392" y="1588427"/>
            <a:ext cx="745763" cy="61102"/>
            <a:chOff x="4580561" y="2589004"/>
            <a:chExt cx="1064464" cy="25200"/>
          </a:xfrm>
        </p:grpSpPr>
        <p:sp>
          <p:nvSpPr>
            <p:cNvPr id="43" name="Google Shape;43;g3c85563ff4c_0_16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c85563ff4c_0_16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g3c85563ff4c_0_169"/>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g3c85563ff4c_0_169"/>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g3c85563ff4c_0_17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g3c85563ff4c_0_176"/>
          <p:cNvGrpSpPr/>
          <p:nvPr/>
        </p:nvGrpSpPr>
        <p:grpSpPr>
          <a:xfrm>
            <a:off x="830392" y="1588427"/>
            <a:ext cx="745763" cy="61102"/>
            <a:chOff x="4580561" y="2589004"/>
            <a:chExt cx="1064464" cy="25200"/>
          </a:xfrm>
        </p:grpSpPr>
        <p:sp>
          <p:nvSpPr>
            <p:cNvPr id="50" name="Google Shape;50;g3c85563ff4c_0_17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3c85563ff4c_0_17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g3c85563ff4c_0_176"/>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g3c85563ff4c_0_176"/>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g3c85563ff4c_0_17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grpSp>
        <p:nvGrpSpPr>
          <p:cNvPr id="56" name="Google Shape;56;g3c85563ff4c_0_184"/>
          <p:cNvGrpSpPr/>
          <p:nvPr/>
        </p:nvGrpSpPr>
        <p:grpSpPr>
          <a:xfrm>
            <a:off x="830392" y="5558926"/>
            <a:ext cx="745763" cy="61102"/>
            <a:chOff x="4580561" y="2589004"/>
            <a:chExt cx="1064464" cy="25200"/>
          </a:xfrm>
        </p:grpSpPr>
        <p:sp>
          <p:nvSpPr>
            <p:cNvPr id="57" name="Google Shape;57;g3c85563ff4c_0_18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c85563ff4c_0_18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g3c85563ff4c_0_184"/>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g3c85563ff4c_0_18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3c85563ff4c_0_190"/>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g3c85563ff4c_0_190"/>
          <p:cNvGrpSpPr/>
          <p:nvPr/>
        </p:nvGrpSpPr>
        <p:grpSpPr>
          <a:xfrm>
            <a:off x="830392" y="1588427"/>
            <a:ext cx="745763" cy="61102"/>
            <a:chOff x="4580561" y="2589004"/>
            <a:chExt cx="1064464" cy="25200"/>
          </a:xfrm>
        </p:grpSpPr>
        <p:sp>
          <p:nvSpPr>
            <p:cNvPr id="64" name="Google Shape;64;g3c85563ff4c_0_19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c85563ff4c_0_19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g3c85563ff4c_0_190"/>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g3c85563ff4c_0_190"/>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g3c85563ff4c_0_190"/>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g3c85563ff4c_0_19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g3c85563ff4c_0_199"/>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g3c85563ff4c_0_199"/>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grpSp>
        <p:nvGrpSpPr>
          <p:cNvPr id="74" name="Google Shape;74;g3c85563ff4c_0_202"/>
          <p:cNvGrpSpPr/>
          <p:nvPr/>
        </p:nvGrpSpPr>
        <p:grpSpPr>
          <a:xfrm>
            <a:off x="830392" y="5558926"/>
            <a:ext cx="745763" cy="61102"/>
            <a:chOff x="4580561" y="2589004"/>
            <a:chExt cx="1064464" cy="25200"/>
          </a:xfrm>
        </p:grpSpPr>
        <p:sp>
          <p:nvSpPr>
            <p:cNvPr id="75" name="Google Shape;75;g3c85563ff4c_0_20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c85563ff4c_0_20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g3c85563ff4c_0_202"/>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g3c85563ff4c_0_202"/>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g3c85563ff4c_0_20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g3c85563ff4c_0_209"/>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g3c85563ff4c_0_2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g3c85563ff4c_0_2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85" name="Google Shape;85;g3c85563ff4c_0_2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g3c85563ff4c_0_2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g3c85563ff4c_0_2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rgbClr val="EFEFEF"/>
        </a:solidFill>
      </p:bgPr>
    </p:bg>
    <p:spTree>
      <p:nvGrpSpPr>
        <p:cNvPr id="5" name="Shape 5"/>
        <p:cNvGrpSpPr/>
        <p:nvPr/>
      </p:nvGrpSpPr>
      <p:grpSpPr>
        <a:xfrm>
          <a:off x="0" y="0"/>
          <a:ext cx="0" cy="0"/>
          <a:chOff x="0" y="0"/>
          <a:chExt cx="0" cy="0"/>
        </a:xfrm>
      </p:grpSpPr>
      <p:sp>
        <p:nvSpPr>
          <p:cNvPr id="6" name="Google Shape;6;g3c85563ff4c_0_13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g3c85563ff4c_0_13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g3c85563ff4c_0_134"/>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24.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21.png"/><Relationship Id="rId7"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26.jpg"/><Relationship Id="rId4" Type="http://schemas.openxmlformats.org/officeDocument/2006/relationships/image" Target="../media/image2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20.jpg"/><Relationship Id="rId4" Type="http://schemas.openxmlformats.org/officeDocument/2006/relationships/image" Target="../media/image1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2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2.png"/><Relationship Id="rId4"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729450" y="1763267"/>
            <a:ext cx="7688100" cy="2219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Preprocessing, Evaluation of Classification &amp; EDA</a:t>
            </a:r>
            <a:endParaRPr/>
          </a:p>
        </p:txBody>
      </p:sp>
      <p:sp>
        <p:nvSpPr>
          <p:cNvPr id="93" name="Google Shape;93;p1"/>
          <p:cNvSpPr txBox="1"/>
          <p:nvPr>
            <p:ph idx="1" type="subTitle"/>
          </p:nvPr>
        </p:nvSpPr>
        <p:spPr>
          <a:xfrm>
            <a:off x="729627" y="4230533"/>
            <a:ext cx="7688100" cy="7215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By Dr. Shagun Sharma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Contents</a:t>
            </a:r>
            <a:endParaRPr/>
          </a:p>
        </p:txBody>
      </p:sp>
      <p:sp>
        <p:nvSpPr>
          <p:cNvPr id="99" name="Google Shape;99;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2766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Data preprocessing: </a:t>
            </a:r>
            <a:endParaRPr sz="3200">
              <a:solidFill>
                <a:schemeClr val="dk1"/>
              </a:solidFill>
              <a:latin typeface="Calibri"/>
              <a:ea typeface="Calibri"/>
              <a:cs typeface="Calibri"/>
              <a:sym typeface="Calibri"/>
            </a:endParaRPr>
          </a:p>
          <a:p>
            <a:pPr indent="0" lvl="0" marL="342900" rtl="0" algn="l">
              <a:spcBef>
                <a:spcPts val="0"/>
              </a:spcBef>
              <a:spcAft>
                <a:spcPts val="0"/>
              </a:spcAft>
              <a:buNone/>
            </a:pPr>
            <a:r>
              <a:rPr lang="en-US" sz="3200">
                <a:solidFill>
                  <a:schemeClr val="dk1"/>
                </a:solidFill>
                <a:latin typeface="Calibri"/>
                <a:ea typeface="Calibri"/>
                <a:cs typeface="Calibri"/>
                <a:sym typeface="Calibri"/>
              </a:rPr>
              <a:t>Data cleaning – data integration – Data Reduction, Data Transformation and Data Discretization. </a:t>
            </a:r>
            <a:endParaRPr sz="3200">
              <a:solidFill>
                <a:schemeClr val="dk1"/>
              </a:solidFill>
              <a:latin typeface="Calibri"/>
              <a:ea typeface="Calibri"/>
              <a:cs typeface="Calibri"/>
              <a:sym typeface="Calibri"/>
            </a:endParaRPr>
          </a:p>
          <a:p>
            <a:pPr indent="-327660" lvl="0" marL="342900" rtl="0" algn="just">
              <a:spcBef>
                <a:spcPts val="0"/>
              </a:spcBef>
              <a:spcAft>
                <a:spcPts val="0"/>
              </a:spcAft>
              <a:buSzPct val="100000"/>
              <a:buChar char="●"/>
            </a:pPr>
            <a:r>
              <a:rPr lang="en-US" sz="3200">
                <a:solidFill>
                  <a:schemeClr val="dk1"/>
                </a:solidFill>
                <a:latin typeface="Calibri"/>
                <a:ea typeface="Calibri"/>
                <a:cs typeface="Calibri"/>
                <a:sym typeface="Calibri"/>
              </a:rPr>
              <a:t>Evaluation of classification methods – Confusion matrix, Students T-tests and ROC curves-Exploratory</a:t>
            </a:r>
            <a:endParaRPr sz="3200">
              <a:solidFill>
                <a:schemeClr val="dk1"/>
              </a:solidFill>
              <a:latin typeface="Calibri"/>
              <a:ea typeface="Calibri"/>
              <a:cs typeface="Calibri"/>
              <a:sym typeface="Calibri"/>
            </a:endParaRPr>
          </a:p>
          <a:p>
            <a:pPr indent="-32766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Data Analysis – Basic tools (plots, graphs and summary statistics) of EDA, Philosophy of EDA – The Data Science Process.</a:t>
            </a:r>
            <a:endParaRPr sz="3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c85563ff4c_0_2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Preprocessing</a:t>
            </a:r>
            <a:endParaRPr/>
          </a:p>
        </p:txBody>
      </p:sp>
      <p:sp>
        <p:nvSpPr>
          <p:cNvPr id="105" name="Google Shape;105;g3c85563ff4c_0_2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Real-world data is often incomplete, noisy, and inconsistent, which can lead to incorrect results if used directly. Data preprocessing in data mining is the process of cleaning and preparing raw data so it can be used effectively for analysis and model building.</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Real data contains missing and incorrect values</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Data may come from multiple sources</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Large datasets often have irrelevant information</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Clean data gives better mining results</a:t>
            </a:r>
            <a:endParaRPr sz="2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c85563ff4c_0_2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Preprocessing</a:t>
            </a:r>
            <a:endParaRPr/>
          </a:p>
        </p:txBody>
      </p:sp>
      <p:sp>
        <p:nvSpPr>
          <p:cNvPr id="111" name="Google Shape;111;g3c85563ff4c_0_227"/>
          <p:cNvSpPr txBox="1"/>
          <p:nvPr>
            <p:ph idx="1" type="body"/>
          </p:nvPr>
        </p:nvSpPr>
        <p:spPr>
          <a:xfrm>
            <a:off x="457200" y="1600200"/>
            <a:ext cx="8229600" cy="5167500"/>
          </a:xfrm>
          <a:prstGeom prst="rect">
            <a:avLst/>
          </a:prstGeom>
          <a:noFill/>
          <a:ln>
            <a:noFill/>
          </a:ln>
        </p:spPr>
        <p:txBody>
          <a:bodyPr anchorCtr="0" anchor="t" bIns="45700" lIns="91425" spcFirstLastPara="1" rIns="91425" wrap="square" tIns="45700">
            <a:normAutofit lnSpcReduction="10000"/>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Data preprocessing is the crucial, preliminary step in data analysis and machine learning that transforms raw, unstructured data into a clean, organized format. It involves techniques like cleaning (handling missing values/noise), transformation (normalization/scaling), and reduction to improve data quality, accuracy, and model performance.</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Without this process, models may produce inaccurate, unreliable results due to poor-quality data. Examples include normalizing financial data, tokenizing text for Natural Language Processing (NLP), and reducing noise in images.</a:t>
            </a:r>
            <a:endParaRPr sz="2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c85563ff4c_0_2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Preprocessing</a:t>
            </a:r>
            <a:endParaRPr/>
          </a:p>
        </p:txBody>
      </p:sp>
      <p:pic>
        <p:nvPicPr>
          <p:cNvPr id="117" name="Google Shape;117;g3c85563ff4c_0_232"/>
          <p:cNvPicPr preferRelativeResize="0"/>
          <p:nvPr/>
        </p:nvPicPr>
        <p:blipFill rotWithShape="1">
          <a:blip r:embed="rId3">
            <a:alphaModFix/>
          </a:blip>
          <a:srcRect b="9064" l="0" r="0" t="4354"/>
          <a:stretch/>
        </p:blipFill>
        <p:spPr>
          <a:xfrm>
            <a:off x="1987550" y="1733350"/>
            <a:ext cx="5168900" cy="44463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c85563ff4c_0_2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Steps of </a:t>
            </a:r>
            <a:r>
              <a:rPr lang="en-US" sz="4400">
                <a:solidFill>
                  <a:schemeClr val="dk1"/>
                </a:solidFill>
                <a:latin typeface="Calibri"/>
                <a:ea typeface="Calibri"/>
                <a:cs typeface="Calibri"/>
                <a:sym typeface="Calibri"/>
              </a:rPr>
              <a:t>Data Preprocessing</a:t>
            </a:r>
            <a:endParaRPr/>
          </a:p>
        </p:txBody>
      </p:sp>
      <p:pic>
        <p:nvPicPr>
          <p:cNvPr id="123" name="Google Shape;123;g3c85563ff4c_0_244"/>
          <p:cNvPicPr preferRelativeResize="0"/>
          <p:nvPr/>
        </p:nvPicPr>
        <p:blipFill>
          <a:blip r:embed="rId3">
            <a:alphaModFix/>
          </a:blip>
          <a:stretch>
            <a:fillRect/>
          </a:stretch>
        </p:blipFill>
        <p:spPr>
          <a:xfrm>
            <a:off x="762000" y="2066625"/>
            <a:ext cx="7620000" cy="381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c85563ff4c_0_2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Cleaning</a:t>
            </a:r>
            <a:endParaRPr/>
          </a:p>
        </p:txBody>
      </p:sp>
      <p:sp>
        <p:nvSpPr>
          <p:cNvPr id="129" name="Google Shape;129;g3c85563ff4c_0_238"/>
          <p:cNvSpPr txBox="1"/>
          <p:nvPr>
            <p:ph idx="1" type="body"/>
          </p:nvPr>
        </p:nvSpPr>
        <p:spPr>
          <a:xfrm>
            <a:off x="457200" y="1600200"/>
            <a:ext cx="8229600" cy="51675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It is the process of identifying and correcting errors or inconsistencies in the dataset. Its common tasks include:</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Handling missing values</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Removing duplicate records</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Correcting wrong or inconsistent data</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Handling Outliers</a:t>
            </a:r>
            <a:endParaRPr sz="2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c85563ff4c_0_2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Cleaning</a:t>
            </a:r>
            <a:endParaRPr/>
          </a:p>
        </p:txBody>
      </p:sp>
      <p:pic>
        <p:nvPicPr>
          <p:cNvPr id="135" name="Google Shape;135;g3c85563ff4c_0_251"/>
          <p:cNvPicPr preferRelativeResize="0"/>
          <p:nvPr/>
        </p:nvPicPr>
        <p:blipFill rotWithShape="1">
          <a:blip r:embed="rId3">
            <a:alphaModFix/>
          </a:blip>
          <a:srcRect b="0" l="0" r="0" t="7338"/>
          <a:stretch/>
        </p:blipFill>
        <p:spPr>
          <a:xfrm>
            <a:off x="614700" y="1417650"/>
            <a:ext cx="7914600" cy="52432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c85563ff4c_0_2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Techniques used in </a:t>
            </a:r>
            <a:r>
              <a:rPr lang="en-US" sz="4400">
                <a:solidFill>
                  <a:schemeClr val="dk1"/>
                </a:solidFill>
                <a:latin typeface="Calibri"/>
                <a:ea typeface="Calibri"/>
                <a:cs typeface="Calibri"/>
                <a:sym typeface="Calibri"/>
              </a:rPr>
              <a:t>Data Cleaning</a:t>
            </a:r>
            <a:endParaRPr/>
          </a:p>
        </p:txBody>
      </p:sp>
      <p:sp>
        <p:nvSpPr>
          <p:cNvPr id="141" name="Google Shape;141;g3c85563ff4c_0_262"/>
          <p:cNvSpPr txBox="1"/>
          <p:nvPr>
            <p:ph idx="1" type="body"/>
          </p:nvPr>
        </p:nvSpPr>
        <p:spPr>
          <a:xfrm>
            <a:off x="457200" y="1600200"/>
            <a:ext cx="8229600" cy="51675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just">
              <a:spcBef>
                <a:spcPts val="0"/>
              </a:spcBef>
              <a:spcAft>
                <a:spcPts val="0"/>
              </a:spcAft>
              <a:buNone/>
            </a:pPr>
            <a:r>
              <a:rPr b="1" lang="en-US" sz="2600">
                <a:solidFill>
                  <a:schemeClr val="dk1"/>
                </a:solidFill>
                <a:latin typeface="Calibri"/>
                <a:ea typeface="Calibri"/>
                <a:cs typeface="Calibri"/>
                <a:sym typeface="Calibri"/>
              </a:rPr>
              <a:t>Techniques used:</a:t>
            </a:r>
            <a:endParaRPr b="1"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Mean Imputation: Replaces missing values with the average of the attribute.</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Median Imputation: Replaces missing values with the middle value, useful when outliers exist.</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Mode Imputation: Replaces missing values with the most frequent value.</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Deletion Method: Removes records that contain missing values.</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Interquartile Range (IQR): Detects outliers using the range between Q1 and Q3.</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Z-Score Method: Identifies outliers based on standard deviation from the mean.</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Binning: Smooths noisy data by grouping values into bins.</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Regression Smoothing: Uses regression to predict and smooth noisy values.</a:t>
            </a:r>
            <a:endParaRPr sz="2600">
              <a:solidFill>
                <a:schemeClr val="dk1"/>
              </a:solidFill>
              <a:latin typeface="Calibri"/>
              <a:ea typeface="Calibri"/>
              <a:cs typeface="Calibri"/>
              <a:sym typeface="Calibri"/>
            </a:endParaRPr>
          </a:p>
          <a:p>
            <a:pPr indent="-267652" lvl="0" marL="342900" rtl="0" algn="just">
              <a:spcBef>
                <a:spcPts val="0"/>
              </a:spcBef>
              <a:spcAft>
                <a:spcPts val="0"/>
              </a:spcAft>
              <a:buClr>
                <a:schemeClr val="dk1"/>
              </a:buClr>
              <a:buSzPct val="100000"/>
              <a:buFont typeface="Calibri"/>
              <a:buChar char="●"/>
            </a:pPr>
            <a:r>
              <a:rPr lang="en-US" sz="2600">
                <a:solidFill>
                  <a:schemeClr val="dk1"/>
                </a:solidFill>
                <a:latin typeface="Calibri"/>
                <a:ea typeface="Calibri"/>
                <a:cs typeface="Calibri"/>
                <a:sym typeface="Calibri"/>
              </a:rPr>
              <a:t>Duplicate Detection: Identifies and removes repeated records.</a:t>
            </a:r>
            <a:endParaRPr sz="2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c85563ff4c_0_2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Example</a:t>
            </a:r>
            <a:endParaRPr/>
          </a:p>
        </p:txBody>
      </p:sp>
      <p:sp>
        <p:nvSpPr>
          <p:cNvPr id="147" name="Google Shape;147;g3c85563ff4c_0_267"/>
          <p:cNvSpPr txBox="1"/>
          <p:nvPr>
            <p:ph idx="1" type="body"/>
          </p:nvPr>
        </p:nvSpPr>
        <p:spPr>
          <a:xfrm>
            <a:off x="457200" y="1600200"/>
            <a:ext cx="8229600" cy="51675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Replacing missing age values with the average age</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Removing repeated rows in a dataset</a:t>
            </a:r>
            <a:endParaRPr sz="2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c85563ff4c_0_2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Sample table </a:t>
            </a:r>
            <a:r>
              <a:rPr lang="en-US" sz="4400">
                <a:solidFill>
                  <a:schemeClr val="dk1"/>
                </a:solidFill>
                <a:latin typeface="Calibri"/>
                <a:ea typeface="Calibri"/>
                <a:cs typeface="Calibri"/>
                <a:sym typeface="Calibri"/>
              </a:rPr>
              <a:t>Example</a:t>
            </a:r>
            <a:endParaRPr/>
          </a:p>
        </p:txBody>
      </p:sp>
      <p:graphicFrame>
        <p:nvGraphicFramePr>
          <p:cNvPr id="153" name="Google Shape;153;g3c85563ff4c_0_272"/>
          <p:cNvGraphicFramePr/>
          <p:nvPr/>
        </p:nvGraphicFramePr>
        <p:xfrm>
          <a:off x="781000" y="2262525"/>
          <a:ext cx="3000000" cy="3000000"/>
        </p:xfrm>
        <a:graphic>
          <a:graphicData uri="http://schemas.openxmlformats.org/drawingml/2006/table">
            <a:tbl>
              <a:tblPr>
                <a:noFill/>
                <a:tableStyleId>{797E7BFC-4989-4B1F-BA66-CAACD3B82B48}</a:tableStyleId>
              </a:tblPr>
              <a:tblGrid>
                <a:gridCol w="1603500"/>
                <a:gridCol w="910625"/>
                <a:gridCol w="574100"/>
                <a:gridCol w="1069000"/>
                <a:gridCol w="930425"/>
                <a:gridCol w="2494350"/>
              </a:tblGrid>
              <a:tr h="441725">
                <a:tc>
                  <a:txBody>
                    <a:bodyPr/>
                    <a:lstStyle/>
                    <a:p>
                      <a:pPr indent="0" lvl="0" marL="0" rtl="0" algn="ctr">
                        <a:lnSpc>
                          <a:spcPct val="115000"/>
                        </a:lnSpc>
                        <a:spcBef>
                          <a:spcPts val="0"/>
                        </a:spcBef>
                        <a:spcAft>
                          <a:spcPts val="0"/>
                        </a:spcAft>
                        <a:buNone/>
                      </a:pPr>
                      <a:r>
                        <a:rPr b="1" lang="en-US" sz="1100"/>
                        <a:t>Student_ID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Name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Age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Gender</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Email</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250">
                <a:tc>
                  <a:txBody>
                    <a:bodyPr/>
                    <a:lstStyle/>
                    <a:p>
                      <a:pPr indent="0" lvl="0" marL="0" rtl="0" algn="l">
                        <a:spcBef>
                          <a:spcPts val="0"/>
                        </a:spcBef>
                        <a:spcAft>
                          <a:spcPts val="0"/>
                        </a:spcAft>
                        <a:buNone/>
                      </a:pPr>
                      <a:r>
                        <a:rPr lang="en-US"/>
                        <a:t>101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Riya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riya@gmail.com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8750">
                <a:tc>
                  <a:txBody>
                    <a:bodyPr/>
                    <a:lstStyle/>
                    <a:p>
                      <a:pPr indent="0" lvl="0" marL="0" rtl="0" algn="l">
                        <a:spcBef>
                          <a:spcPts val="0"/>
                        </a:spcBef>
                        <a:spcAft>
                          <a:spcPts val="0"/>
                        </a:spcAft>
                        <a:buNone/>
                      </a:pPr>
                      <a:r>
                        <a:rPr lang="en-US"/>
                        <a:t>102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Aman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aman@gmail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250">
                <a:tc>
                  <a:txBody>
                    <a:bodyPr/>
                    <a:lstStyle/>
                    <a:p>
                      <a:pPr indent="0" lvl="0" marL="0" rtl="0" algn="l">
                        <a:spcBef>
                          <a:spcPts val="0"/>
                        </a:spcBef>
                        <a:spcAft>
                          <a:spcPts val="0"/>
                        </a:spcAft>
                        <a:buNone/>
                      </a:pPr>
                      <a:r>
                        <a:rPr lang="en-US"/>
                        <a:t>103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NULL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dev@gmail.com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250">
                <a:tc>
                  <a:txBody>
                    <a:bodyPr/>
                    <a:lstStyle/>
                    <a:p>
                      <a:pPr indent="0" lvl="0" marL="0" rtl="0" algn="l">
                        <a:spcBef>
                          <a:spcPts val="0"/>
                        </a:spcBef>
                        <a:spcAft>
                          <a:spcPts val="0"/>
                        </a:spcAft>
                        <a:buNone/>
                      </a:pPr>
                      <a:r>
                        <a:rPr lang="en-US"/>
                        <a:t>103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Dev</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dev@gmail.com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250">
                <a:tc>
                  <a:txBody>
                    <a:bodyPr/>
                    <a:lstStyle/>
                    <a:p>
                      <a:pPr indent="0" lvl="0" marL="0" rtl="0" algn="l">
                        <a:spcBef>
                          <a:spcPts val="0"/>
                        </a:spcBef>
                        <a:spcAft>
                          <a:spcPts val="0"/>
                        </a:spcAft>
                        <a:buNone/>
                      </a:pPr>
                      <a:r>
                        <a:rPr lang="en-US"/>
                        <a:t>104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Shreya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shreya@gmail.com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4250">
                <a:tc>
                  <a:txBody>
                    <a:bodyPr/>
                    <a:lstStyle/>
                    <a:p>
                      <a:pPr indent="0" lvl="0" marL="0" rtl="0" algn="l">
                        <a:spcBef>
                          <a:spcPts val="0"/>
                        </a:spcBef>
                        <a:spcAft>
                          <a:spcPts val="0"/>
                        </a:spcAft>
                        <a:buNone/>
                      </a:pPr>
                      <a:r>
                        <a:rPr lang="en-US"/>
                        <a:t>105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Karan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450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karan@gmail.com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8750">
                <a:tc>
                  <a:txBody>
                    <a:bodyPr/>
                    <a:lstStyle/>
                    <a:p>
                      <a:pPr indent="0" lvl="0" marL="0" rtl="0" algn="l">
                        <a:spcBef>
                          <a:spcPts val="0"/>
                        </a:spcBef>
                        <a:spcAft>
                          <a:spcPts val="0"/>
                        </a:spcAft>
                        <a:buNone/>
                      </a:pPr>
                      <a:r>
                        <a:rPr lang="en-US"/>
                        <a:t>106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Pooja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Female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c85563ff4c_0_2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Sample table Example</a:t>
            </a:r>
            <a:endParaRPr/>
          </a:p>
        </p:txBody>
      </p:sp>
      <p:sp>
        <p:nvSpPr>
          <p:cNvPr id="159" name="Google Shape;159;g3c85563ff4c_0_291"/>
          <p:cNvSpPr txBox="1"/>
          <p:nvPr>
            <p:ph idx="1" type="body"/>
          </p:nvPr>
        </p:nvSpPr>
        <p:spPr>
          <a:xfrm>
            <a:off x="457200" y="1600200"/>
            <a:ext cx="8229600" cy="51675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Problems in Raw Data</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Missing value → Age (Student 102)</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Invalid email → "aman@gmail"</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NULL name (Student 103)</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Duplicate record → Student_ID 103</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Invalid marks → -5 and 450</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Invalid age → 200</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Inconsistent gender → F, M, Male, m, Female</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Missing email → Student 106</a:t>
            </a:r>
            <a:endParaRPr sz="26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c85563ff4c_0_2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Sample table Example</a:t>
            </a:r>
            <a:endParaRPr/>
          </a:p>
        </p:txBody>
      </p:sp>
      <p:graphicFrame>
        <p:nvGraphicFramePr>
          <p:cNvPr id="165" name="Google Shape;165;g3c85563ff4c_0_285"/>
          <p:cNvGraphicFramePr/>
          <p:nvPr/>
        </p:nvGraphicFramePr>
        <p:xfrm>
          <a:off x="1237625" y="3001175"/>
          <a:ext cx="3000000" cy="3000000"/>
        </p:xfrm>
        <a:graphic>
          <a:graphicData uri="http://schemas.openxmlformats.org/drawingml/2006/table">
            <a:tbl>
              <a:tblPr>
                <a:noFill/>
                <a:tableStyleId>{797E7BFC-4989-4B1F-BA66-CAACD3B82B48}</a:tableStyleId>
              </a:tblPr>
              <a:tblGrid>
                <a:gridCol w="1377175"/>
                <a:gridCol w="782100"/>
                <a:gridCol w="493075"/>
                <a:gridCol w="918125"/>
                <a:gridCol w="799100"/>
                <a:gridCol w="2142300"/>
              </a:tblGrid>
              <a:tr h="431125">
                <a:tc>
                  <a:txBody>
                    <a:bodyPr/>
                    <a:lstStyle/>
                    <a:p>
                      <a:pPr indent="0" lvl="0" marL="0" rtl="0" algn="ctr">
                        <a:lnSpc>
                          <a:spcPct val="115000"/>
                        </a:lnSpc>
                        <a:spcBef>
                          <a:spcPts val="0"/>
                        </a:spcBef>
                        <a:spcAft>
                          <a:spcPts val="0"/>
                        </a:spcAft>
                        <a:buNone/>
                      </a:pPr>
                      <a:r>
                        <a:rPr b="1" lang="en-US" sz="1100"/>
                        <a:t>Student_ID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Name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Age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Gender</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Email</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100">
                <a:tc>
                  <a:txBody>
                    <a:bodyPr/>
                    <a:lstStyle/>
                    <a:p>
                      <a:pPr indent="0" lvl="0" marL="0" rtl="0" algn="l">
                        <a:spcBef>
                          <a:spcPts val="0"/>
                        </a:spcBef>
                        <a:spcAft>
                          <a:spcPts val="0"/>
                        </a:spcAft>
                        <a:buNone/>
                      </a:pPr>
                      <a:r>
                        <a:rPr lang="en-US"/>
                        <a:t>101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Riya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Female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riya@gmail.com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100">
                <a:tc>
                  <a:txBody>
                    <a:bodyPr/>
                    <a:lstStyle/>
                    <a:p>
                      <a:pPr indent="0" lvl="0" marL="0" rtl="0" algn="l">
                        <a:spcBef>
                          <a:spcPts val="0"/>
                        </a:spcBef>
                        <a:spcAft>
                          <a:spcPts val="0"/>
                        </a:spcAft>
                        <a:buNone/>
                      </a:pPr>
                      <a:r>
                        <a:rPr lang="en-US"/>
                        <a:t>102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Aman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aman@gmail.com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100">
                <a:tc>
                  <a:txBody>
                    <a:bodyPr/>
                    <a:lstStyle/>
                    <a:p>
                      <a:pPr indent="0" lvl="0" marL="0" rtl="0" algn="l">
                        <a:spcBef>
                          <a:spcPts val="0"/>
                        </a:spcBef>
                        <a:spcAft>
                          <a:spcPts val="0"/>
                        </a:spcAft>
                        <a:buNone/>
                      </a:pPr>
                      <a:r>
                        <a:rPr lang="en-US"/>
                        <a:t>103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Dev</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dev@gmail.com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100">
                <a:tc>
                  <a:txBody>
                    <a:bodyPr/>
                    <a:lstStyle/>
                    <a:p>
                      <a:pPr indent="0" lvl="0" marL="0" rtl="0" algn="l">
                        <a:spcBef>
                          <a:spcPts val="0"/>
                        </a:spcBef>
                        <a:spcAft>
                          <a:spcPts val="0"/>
                        </a:spcAft>
                        <a:buNone/>
                      </a:pPr>
                      <a:r>
                        <a:rPr lang="en-US"/>
                        <a:t>104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Shreya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Female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shreya@gmail.com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100">
                <a:tc>
                  <a:txBody>
                    <a:bodyPr/>
                    <a:lstStyle/>
                    <a:p>
                      <a:pPr indent="0" lvl="0" marL="0" rtl="0" algn="l">
                        <a:spcBef>
                          <a:spcPts val="0"/>
                        </a:spcBef>
                        <a:spcAft>
                          <a:spcPts val="0"/>
                        </a:spcAft>
                        <a:buNone/>
                      </a:pPr>
                      <a:r>
                        <a:rPr lang="en-US"/>
                        <a:t>105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Karan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karan@gmail.com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100">
                <a:tc>
                  <a:txBody>
                    <a:bodyPr/>
                    <a:lstStyle/>
                    <a:p>
                      <a:pPr indent="0" lvl="0" marL="0" rtl="0" algn="l">
                        <a:spcBef>
                          <a:spcPts val="0"/>
                        </a:spcBef>
                        <a:spcAft>
                          <a:spcPts val="0"/>
                        </a:spcAft>
                        <a:buNone/>
                      </a:pPr>
                      <a:r>
                        <a:rPr lang="en-US"/>
                        <a:t>106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Pooja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Female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Not Available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c85563ff4c_0_3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Changes made</a:t>
            </a:r>
            <a:endParaRPr/>
          </a:p>
        </p:txBody>
      </p:sp>
      <p:graphicFrame>
        <p:nvGraphicFramePr>
          <p:cNvPr id="171" name="Google Shape;171;g3c85563ff4c_0_304"/>
          <p:cNvGraphicFramePr/>
          <p:nvPr/>
        </p:nvGraphicFramePr>
        <p:xfrm>
          <a:off x="1222550" y="2141200"/>
          <a:ext cx="3000000" cy="3000000"/>
        </p:xfrm>
        <a:graphic>
          <a:graphicData uri="http://schemas.openxmlformats.org/drawingml/2006/table">
            <a:tbl>
              <a:tblPr>
                <a:noFill/>
                <a:tableStyleId>{797E7BFC-4989-4B1F-BA66-CAACD3B82B48}</a:tableStyleId>
              </a:tblPr>
              <a:tblGrid>
                <a:gridCol w="2905275"/>
                <a:gridCol w="4171175"/>
              </a:tblGrid>
              <a:tr h="252375">
                <a:tc>
                  <a:txBody>
                    <a:bodyPr/>
                    <a:lstStyle/>
                    <a:p>
                      <a:pPr indent="0" lvl="0" marL="0" rtl="0" algn="ctr">
                        <a:lnSpc>
                          <a:spcPct val="115000"/>
                        </a:lnSpc>
                        <a:spcBef>
                          <a:spcPts val="0"/>
                        </a:spcBef>
                        <a:spcAft>
                          <a:spcPts val="0"/>
                        </a:spcAft>
                        <a:buNone/>
                      </a:pPr>
                      <a:r>
                        <a:rPr b="1" lang="en-US" sz="1100"/>
                        <a:t>Problem</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Cleaning Technique Used</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Missing Age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Replaced with mean age (20)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NULL Name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Removed duplicate NULL row</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Duplicate ID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Kept only valid record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Invalid Marks (-5)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Replaced with 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Marks &gt; 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Capped to 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Age = 200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Replaced with mean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Gender inconsistency</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Standardized to Male/Female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Invalid email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Corrected format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65250">
                <a:tc>
                  <a:txBody>
                    <a:bodyPr/>
                    <a:lstStyle/>
                    <a:p>
                      <a:pPr indent="0" lvl="0" marL="0" rtl="0" algn="l">
                        <a:spcBef>
                          <a:spcPts val="0"/>
                        </a:spcBef>
                        <a:spcAft>
                          <a:spcPts val="0"/>
                        </a:spcAft>
                        <a:buNone/>
                      </a:pPr>
                      <a:r>
                        <a:rPr lang="en-US"/>
                        <a:t>Missing email</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Filled with “Not Available”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c85563ff4c_0_2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Integration</a:t>
            </a:r>
            <a:endParaRPr/>
          </a:p>
        </p:txBody>
      </p:sp>
      <p:sp>
        <p:nvSpPr>
          <p:cNvPr id="177" name="Google Shape;177;g3c85563ff4c_0_257"/>
          <p:cNvSpPr txBox="1"/>
          <p:nvPr>
            <p:ph idx="1" type="body"/>
          </p:nvPr>
        </p:nvSpPr>
        <p:spPr>
          <a:xfrm>
            <a:off x="457200" y="1600200"/>
            <a:ext cx="8229600" cy="51675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None/>
            </a:pPr>
            <a:r>
              <a:rPr b="1" lang="en-US" sz="2600">
                <a:solidFill>
                  <a:schemeClr val="dk1"/>
                </a:solidFill>
                <a:latin typeface="Calibri"/>
                <a:ea typeface="Calibri"/>
                <a:cs typeface="Calibri"/>
                <a:sym typeface="Calibri"/>
              </a:rPr>
              <a:t>Data Integration</a:t>
            </a:r>
            <a:endParaRPr b="1"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It involves merging data from various sources into a single, unified dataset. It can be challenging due to differences in data formats, structures, and meanings.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Used when data comes from databases, files, or APIs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Removes redundancy between datasets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Resolves conflicts in data values</a:t>
            </a:r>
            <a:endParaRPr sz="26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c85563ff4c_0_3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Integration</a:t>
            </a:r>
            <a:endParaRPr/>
          </a:p>
        </p:txBody>
      </p:sp>
      <p:pic>
        <p:nvPicPr>
          <p:cNvPr id="183" name="Google Shape;183;g3c85563ff4c_0_312"/>
          <p:cNvPicPr preferRelativeResize="0"/>
          <p:nvPr/>
        </p:nvPicPr>
        <p:blipFill rotWithShape="1">
          <a:blip r:embed="rId3">
            <a:alphaModFix/>
          </a:blip>
          <a:srcRect b="0" l="0" r="0" t="12457"/>
          <a:stretch/>
        </p:blipFill>
        <p:spPr>
          <a:xfrm>
            <a:off x="949800" y="2185525"/>
            <a:ext cx="7661624" cy="44497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c85563ff4c_0_2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Techniques used for Data Integration</a:t>
            </a:r>
            <a:endParaRPr/>
          </a:p>
        </p:txBody>
      </p:sp>
      <p:sp>
        <p:nvSpPr>
          <p:cNvPr id="189" name="Google Shape;189;g3c85563ff4c_0_2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70000"/>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Techniques used:</a:t>
            </a:r>
            <a:endParaRPr b="1" sz="3200">
              <a:solidFill>
                <a:schemeClr val="dk1"/>
              </a:solidFill>
              <a:latin typeface="Calibri"/>
              <a:ea typeface="Calibri"/>
              <a:cs typeface="Calibri"/>
              <a:sym typeface="Calibri"/>
            </a:endParaRPr>
          </a:p>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Schema Matching: Aligns attributes from different data sources.</a:t>
            </a:r>
            <a:endParaRPr sz="3200">
              <a:solidFill>
                <a:schemeClr val="dk1"/>
              </a:solidFill>
              <a:latin typeface="Calibri"/>
              <a:ea typeface="Calibri"/>
              <a:cs typeface="Calibri"/>
              <a:sym typeface="Calibri"/>
            </a:endParaRPr>
          </a:p>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Entity Resolution: Identifies records that refer to the same real-world entity.</a:t>
            </a:r>
            <a:endParaRPr sz="3200">
              <a:solidFill>
                <a:schemeClr val="dk1"/>
              </a:solidFill>
              <a:latin typeface="Calibri"/>
              <a:ea typeface="Calibri"/>
              <a:cs typeface="Calibri"/>
              <a:sym typeface="Calibri"/>
            </a:endParaRPr>
          </a:p>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Correlation Analysis: Finds and removes redundant attributes.</a:t>
            </a:r>
            <a:endParaRPr sz="3200">
              <a:solidFill>
                <a:schemeClr val="dk1"/>
              </a:solidFill>
              <a:latin typeface="Calibri"/>
              <a:ea typeface="Calibri"/>
              <a:cs typeface="Calibri"/>
              <a:sym typeface="Calibri"/>
            </a:endParaRPr>
          </a:p>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Data Conflict Resolution: Resolves inconsistencies in units or data values.</a:t>
            </a:r>
            <a:endParaRPr sz="3200">
              <a:solidFill>
                <a:schemeClr val="dk1"/>
              </a:solidFill>
              <a:latin typeface="Calibri"/>
              <a:ea typeface="Calibri"/>
              <a:cs typeface="Calibri"/>
              <a:sym typeface="Calibri"/>
            </a:endParaRPr>
          </a:p>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Duplicate Elimination: Removes overlapping records after integration.</a:t>
            </a:r>
            <a:endParaRPr sz="3200">
              <a:solidFill>
                <a:schemeClr val="dk1"/>
              </a:solidFill>
              <a:latin typeface="Calibri"/>
              <a:ea typeface="Calibri"/>
              <a:cs typeface="Calibri"/>
              <a:sym typeface="Calibri"/>
            </a:endParaRPr>
          </a:p>
          <a:p>
            <a:pPr indent="-28194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Example: Merging customer data from sales and marketing databases</a:t>
            </a:r>
            <a:endParaRPr sz="3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c85563ff4c_0_3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Transformation</a:t>
            </a:r>
            <a:endParaRPr/>
          </a:p>
        </p:txBody>
      </p:sp>
      <p:sp>
        <p:nvSpPr>
          <p:cNvPr id="195" name="Google Shape;195;g3c85563ff4c_0_3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Data transformation converts data into a suitable form so that data mining algorithms can work effectively.</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Bring data into a common format</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Improve mining efficiency</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Make data suitable for modeling</a:t>
            </a:r>
            <a:endParaRPr sz="26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c85563ff4c_0_3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Transformation Techniques</a:t>
            </a:r>
            <a:endParaRPr/>
          </a:p>
        </p:txBody>
      </p:sp>
      <p:sp>
        <p:nvSpPr>
          <p:cNvPr id="201" name="Google Shape;201;g3c85563ff4c_0_3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92500" lnSpcReduction="10000"/>
          </a:bodyPr>
          <a:lstStyle/>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Min-Max Normalization: Scales data into a fixed range, usually 0 to 1.</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Z-Score Normalization: Transforms data using mean and standard deviation.</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Decimal Scaling: Normalizes data by moving the decimal point.</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Log Transformation: Reduces data skewness using logarithmic scaling.</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One-Hot Encoding: Converts categories into binary columns.</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Label Encoding: Assigns numeric labels to categorical values.</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Aggregation: Combines detailed data into summarized form.</a:t>
            </a:r>
            <a:endParaRPr sz="2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c85563ff4c_0_3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Min-Max Normalization</a:t>
            </a:r>
            <a:endParaRPr/>
          </a:p>
        </p:txBody>
      </p:sp>
      <p:pic>
        <p:nvPicPr>
          <p:cNvPr id="207" name="Google Shape;207;g3c85563ff4c_0_328"/>
          <p:cNvPicPr preferRelativeResize="0"/>
          <p:nvPr/>
        </p:nvPicPr>
        <p:blipFill>
          <a:blip r:embed="rId3">
            <a:alphaModFix/>
          </a:blip>
          <a:stretch>
            <a:fillRect/>
          </a:stretch>
        </p:blipFill>
        <p:spPr>
          <a:xfrm>
            <a:off x="2843200" y="1554875"/>
            <a:ext cx="3457575" cy="1276350"/>
          </a:xfrm>
          <a:prstGeom prst="rect">
            <a:avLst/>
          </a:prstGeom>
          <a:noFill/>
          <a:ln>
            <a:noFill/>
          </a:ln>
        </p:spPr>
      </p:pic>
      <p:graphicFrame>
        <p:nvGraphicFramePr>
          <p:cNvPr id="208" name="Google Shape;208;g3c85563ff4c_0_328"/>
          <p:cNvGraphicFramePr/>
          <p:nvPr/>
        </p:nvGraphicFramePr>
        <p:xfrm>
          <a:off x="333275" y="3287500"/>
          <a:ext cx="3000000" cy="3000000"/>
        </p:xfrm>
        <a:graphic>
          <a:graphicData uri="http://schemas.openxmlformats.org/drawingml/2006/table">
            <a:tbl>
              <a:tblPr>
                <a:noFill/>
                <a:tableStyleId>{797E7BFC-4989-4B1F-BA66-CAACD3B82B48}</a:tableStyleId>
              </a:tblPr>
              <a:tblGrid>
                <a:gridCol w="2238750"/>
                <a:gridCol w="1913100"/>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09" name="Google Shape;209;g3c85563ff4c_0_328"/>
          <p:cNvGraphicFramePr/>
          <p:nvPr/>
        </p:nvGraphicFramePr>
        <p:xfrm>
          <a:off x="5143825" y="3287500"/>
          <a:ext cx="3000000" cy="3000000"/>
        </p:xfrm>
        <a:graphic>
          <a:graphicData uri="http://schemas.openxmlformats.org/drawingml/2006/table">
            <a:tbl>
              <a:tblPr>
                <a:noFill/>
                <a:tableStyleId>{797E7BFC-4989-4B1F-BA66-CAACD3B82B48}</a:tableStyleId>
              </a:tblPr>
              <a:tblGrid>
                <a:gridCol w="1123025"/>
                <a:gridCol w="2756550"/>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Normalized 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(40-40)/(100-40) = 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20/60 = 0.33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40/60 = 0.67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60/60 = 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10" name="Google Shape;210;g3c85563ff4c_0_328"/>
          <p:cNvSpPr txBox="1"/>
          <p:nvPr/>
        </p:nvSpPr>
        <p:spPr>
          <a:xfrm>
            <a:off x="738550" y="5365825"/>
            <a:ext cx="3000000" cy="12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Here:</a:t>
            </a:r>
            <a:endParaRPr/>
          </a:p>
          <a:p>
            <a:pPr indent="-298450" lvl="0" marL="457200" rtl="0" algn="l">
              <a:lnSpc>
                <a:spcPct val="115000"/>
              </a:lnSpc>
              <a:spcBef>
                <a:spcPts val="1200"/>
              </a:spcBef>
              <a:spcAft>
                <a:spcPts val="0"/>
              </a:spcAft>
              <a:buSzPts val="1100"/>
              <a:buChar char="●"/>
            </a:pPr>
            <a:r>
              <a:rPr lang="en-US"/>
              <a:t>Min = 40</a:t>
            </a:r>
            <a:br>
              <a:rPr lang="en-US"/>
            </a:br>
            <a:endParaRPr/>
          </a:p>
          <a:p>
            <a:pPr indent="-298450" lvl="0" marL="457200" rtl="0" algn="l">
              <a:lnSpc>
                <a:spcPct val="115000"/>
              </a:lnSpc>
              <a:spcBef>
                <a:spcPts val="0"/>
              </a:spcBef>
              <a:spcAft>
                <a:spcPts val="0"/>
              </a:spcAft>
              <a:buSzPts val="1100"/>
              <a:buChar char="●"/>
            </a:pPr>
            <a:r>
              <a:rPr lang="en-US"/>
              <a:t>Max = 100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c85563ff4c_0_3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Z-Score</a:t>
            </a:r>
            <a:r>
              <a:rPr lang="en-US" sz="4400">
                <a:solidFill>
                  <a:schemeClr val="dk1"/>
                </a:solidFill>
                <a:latin typeface="Calibri"/>
                <a:ea typeface="Calibri"/>
                <a:cs typeface="Calibri"/>
                <a:sym typeface="Calibri"/>
              </a:rPr>
              <a:t> Normalization</a:t>
            </a:r>
            <a:endParaRPr/>
          </a:p>
        </p:txBody>
      </p:sp>
      <p:sp>
        <p:nvSpPr>
          <p:cNvPr id="216" name="Google Shape;216;g3c85563ff4c_0_341"/>
          <p:cNvSpPr txBox="1"/>
          <p:nvPr/>
        </p:nvSpPr>
        <p:spPr>
          <a:xfrm>
            <a:off x="738550" y="5365825"/>
            <a:ext cx="30000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Here:</a:t>
            </a:r>
            <a:endParaRPr/>
          </a:p>
          <a:p>
            <a:pPr indent="-298450" lvl="0" marL="457200" rtl="0" algn="l">
              <a:lnSpc>
                <a:spcPct val="115000"/>
              </a:lnSpc>
              <a:spcBef>
                <a:spcPts val="1200"/>
              </a:spcBef>
              <a:spcAft>
                <a:spcPts val="0"/>
              </a:spcAft>
              <a:buSzPts val="1100"/>
              <a:buChar char="●"/>
            </a:pPr>
            <a:r>
              <a:rPr lang="en-US"/>
              <a:t>Mean (μ) = 70</a:t>
            </a:r>
            <a:endParaRPr/>
          </a:p>
        </p:txBody>
      </p:sp>
      <p:pic>
        <p:nvPicPr>
          <p:cNvPr id="217" name="Google Shape;217;g3c85563ff4c_0_341"/>
          <p:cNvPicPr preferRelativeResize="0"/>
          <p:nvPr/>
        </p:nvPicPr>
        <p:blipFill>
          <a:blip r:embed="rId3">
            <a:alphaModFix/>
          </a:blip>
          <a:stretch>
            <a:fillRect/>
          </a:stretch>
        </p:blipFill>
        <p:spPr>
          <a:xfrm>
            <a:off x="781225" y="1539888"/>
            <a:ext cx="2914650" cy="1257300"/>
          </a:xfrm>
          <a:prstGeom prst="rect">
            <a:avLst/>
          </a:prstGeom>
          <a:noFill/>
          <a:ln>
            <a:noFill/>
          </a:ln>
        </p:spPr>
      </p:pic>
      <p:graphicFrame>
        <p:nvGraphicFramePr>
          <p:cNvPr id="218" name="Google Shape;218;g3c85563ff4c_0_341"/>
          <p:cNvGraphicFramePr/>
          <p:nvPr/>
        </p:nvGraphicFramePr>
        <p:xfrm>
          <a:off x="3219550" y="3302575"/>
          <a:ext cx="3000000" cy="3000000"/>
        </p:xfrm>
        <a:graphic>
          <a:graphicData uri="http://schemas.openxmlformats.org/drawingml/2006/table">
            <a:tbl>
              <a:tblPr>
                <a:noFill/>
                <a:tableStyleId>{797E7BFC-4989-4B1F-BA66-CAACD3B82B48}</a:tableStyleId>
              </a:tblPr>
              <a:tblGrid>
                <a:gridCol w="1458525"/>
                <a:gridCol w="1246375"/>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c85563ff4c_0_3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Z-Score Normalization</a:t>
            </a:r>
            <a:endParaRPr/>
          </a:p>
        </p:txBody>
      </p:sp>
      <p:pic>
        <p:nvPicPr>
          <p:cNvPr id="224" name="Google Shape;224;g3c85563ff4c_0_354"/>
          <p:cNvPicPr preferRelativeResize="0"/>
          <p:nvPr/>
        </p:nvPicPr>
        <p:blipFill>
          <a:blip r:embed="rId3">
            <a:alphaModFix/>
          </a:blip>
          <a:stretch>
            <a:fillRect/>
          </a:stretch>
        </p:blipFill>
        <p:spPr>
          <a:xfrm>
            <a:off x="2939479" y="1538175"/>
            <a:ext cx="3265050" cy="1409493"/>
          </a:xfrm>
          <a:prstGeom prst="rect">
            <a:avLst/>
          </a:prstGeom>
          <a:noFill/>
          <a:ln>
            <a:noFill/>
          </a:ln>
        </p:spPr>
      </p:pic>
      <p:graphicFrame>
        <p:nvGraphicFramePr>
          <p:cNvPr id="225" name="Google Shape;225;g3c85563ff4c_0_354"/>
          <p:cNvGraphicFramePr/>
          <p:nvPr/>
        </p:nvGraphicFramePr>
        <p:xfrm>
          <a:off x="2684575" y="3347775"/>
          <a:ext cx="3000000" cy="3000000"/>
        </p:xfrm>
        <a:graphic>
          <a:graphicData uri="http://schemas.openxmlformats.org/drawingml/2006/table">
            <a:tbl>
              <a:tblPr>
                <a:noFill/>
                <a:tableStyleId>{797E7BFC-4989-4B1F-BA66-CAACD3B82B48}</a:tableStyleId>
              </a:tblPr>
              <a:tblGrid>
                <a:gridCol w="1450125"/>
                <a:gridCol w="921025"/>
                <a:gridCol w="1214975"/>
              </a:tblGrid>
              <a:tr h="200025">
                <a:tc>
                  <a:txBody>
                    <a:bodyPr/>
                    <a:lstStyle/>
                    <a:p>
                      <a:pPr indent="0" lvl="0" marL="0" rtl="0" algn="ctr">
                        <a:lnSpc>
                          <a:spcPct val="115000"/>
                        </a:lnSpc>
                        <a:spcBef>
                          <a:spcPts val="0"/>
                        </a:spcBef>
                        <a:spcAft>
                          <a:spcPts val="0"/>
                        </a:spcAft>
                        <a:buNone/>
                      </a:pPr>
                      <a:r>
                        <a:rPr b="1" lang="en-US" sz="1100"/>
                        <a:t>Marks (X)</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X − 70</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(X − 70)²</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40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80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26" name="Google Shape;226;g3c85563ff4c_0_354"/>
          <p:cNvPicPr preferRelativeResize="0"/>
          <p:nvPr/>
        </p:nvPicPr>
        <p:blipFill>
          <a:blip r:embed="rId4">
            <a:alphaModFix/>
          </a:blip>
          <a:stretch>
            <a:fillRect/>
          </a:stretch>
        </p:blipFill>
        <p:spPr>
          <a:xfrm>
            <a:off x="2838450" y="5518500"/>
            <a:ext cx="3467100" cy="933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c85563ff4c_0_3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Decimal Scaling</a:t>
            </a:r>
            <a:endParaRPr/>
          </a:p>
        </p:txBody>
      </p:sp>
      <p:pic>
        <p:nvPicPr>
          <p:cNvPr id="232" name="Google Shape;232;g3c85563ff4c_0_366"/>
          <p:cNvPicPr preferRelativeResize="0"/>
          <p:nvPr/>
        </p:nvPicPr>
        <p:blipFill>
          <a:blip r:embed="rId3">
            <a:alphaModFix/>
          </a:blip>
          <a:stretch>
            <a:fillRect/>
          </a:stretch>
        </p:blipFill>
        <p:spPr>
          <a:xfrm>
            <a:off x="3605213" y="1687413"/>
            <a:ext cx="1933575" cy="1114425"/>
          </a:xfrm>
          <a:prstGeom prst="rect">
            <a:avLst/>
          </a:prstGeom>
          <a:noFill/>
          <a:ln>
            <a:noFill/>
          </a:ln>
        </p:spPr>
      </p:pic>
      <p:graphicFrame>
        <p:nvGraphicFramePr>
          <p:cNvPr id="233" name="Google Shape;233;g3c85563ff4c_0_366"/>
          <p:cNvGraphicFramePr/>
          <p:nvPr/>
        </p:nvGraphicFramePr>
        <p:xfrm>
          <a:off x="2247375" y="3071625"/>
          <a:ext cx="3000000" cy="3000000"/>
        </p:xfrm>
        <a:graphic>
          <a:graphicData uri="http://schemas.openxmlformats.org/drawingml/2006/table">
            <a:tbl>
              <a:tblPr>
                <a:noFill/>
                <a:tableStyleId>{797E7BFC-4989-4B1F-BA66-CAACD3B82B48}</a:tableStyleId>
              </a:tblPr>
              <a:tblGrid>
                <a:gridCol w="2506950"/>
                <a:gridCol w="2142300"/>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34" name="Google Shape;234;g3c85563ff4c_0_366"/>
          <p:cNvSpPr txBox="1"/>
          <p:nvPr/>
        </p:nvSpPr>
        <p:spPr>
          <a:xfrm>
            <a:off x="340888" y="4891950"/>
            <a:ext cx="4754400" cy="143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t>Find Maximum Value</a:t>
            </a:r>
            <a:endParaRPr b="1" sz="1300"/>
          </a:p>
          <a:p>
            <a:pPr indent="0" lvl="0" marL="0" rtl="0" algn="l">
              <a:lnSpc>
                <a:spcPct val="115000"/>
              </a:lnSpc>
              <a:spcBef>
                <a:spcPts val="1200"/>
              </a:spcBef>
              <a:spcAft>
                <a:spcPts val="0"/>
              </a:spcAft>
              <a:buNone/>
            </a:pPr>
            <a:r>
              <a:rPr lang="en-US" sz="1100"/>
              <a:t>Max = </a:t>
            </a:r>
            <a:r>
              <a:rPr b="1" lang="en-US" sz="1100"/>
              <a:t>89</a:t>
            </a:r>
            <a:endParaRPr b="1" sz="1100"/>
          </a:p>
          <a:p>
            <a:pPr indent="0" lvl="0" marL="0" rtl="0" algn="l">
              <a:lnSpc>
                <a:spcPct val="115000"/>
              </a:lnSpc>
              <a:spcBef>
                <a:spcPts val="1200"/>
              </a:spcBef>
              <a:spcAft>
                <a:spcPts val="0"/>
              </a:spcAft>
              <a:buNone/>
            </a:pPr>
            <a:r>
              <a:rPr lang="en-US" sz="1100"/>
              <a:t>To make it less than 1, divide by </a:t>
            </a:r>
            <a:r>
              <a:rPr b="1" lang="en-US" sz="1100"/>
              <a:t>100</a:t>
            </a:r>
            <a:endParaRPr b="1" sz="1100"/>
          </a:p>
          <a:p>
            <a:pPr indent="0" lvl="0" marL="0" rtl="0" algn="l">
              <a:lnSpc>
                <a:spcPct val="115000"/>
              </a:lnSpc>
              <a:spcBef>
                <a:spcPts val="1200"/>
              </a:spcBef>
              <a:spcAft>
                <a:spcPts val="1200"/>
              </a:spcAft>
              <a:buNone/>
            </a:pPr>
            <a:r>
              <a:rPr lang="en-US" sz="1100"/>
              <a:t>So, j = 2</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c85563ff4c_0_3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Decimal Scaling</a:t>
            </a:r>
            <a:endParaRPr/>
          </a:p>
        </p:txBody>
      </p:sp>
      <p:pic>
        <p:nvPicPr>
          <p:cNvPr id="240" name="Google Shape;240;g3c85563ff4c_0_386"/>
          <p:cNvPicPr preferRelativeResize="0"/>
          <p:nvPr/>
        </p:nvPicPr>
        <p:blipFill>
          <a:blip r:embed="rId3">
            <a:alphaModFix/>
          </a:blip>
          <a:stretch>
            <a:fillRect/>
          </a:stretch>
        </p:blipFill>
        <p:spPr>
          <a:xfrm>
            <a:off x="3605213" y="1687413"/>
            <a:ext cx="1933575" cy="1114425"/>
          </a:xfrm>
          <a:prstGeom prst="rect">
            <a:avLst/>
          </a:prstGeom>
          <a:noFill/>
          <a:ln>
            <a:noFill/>
          </a:ln>
        </p:spPr>
      </p:pic>
      <p:graphicFrame>
        <p:nvGraphicFramePr>
          <p:cNvPr id="241" name="Google Shape;241;g3c85563ff4c_0_386"/>
          <p:cNvGraphicFramePr/>
          <p:nvPr/>
        </p:nvGraphicFramePr>
        <p:xfrm>
          <a:off x="2247375" y="3071625"/>
          <a:ext cx="3000000" cy="3000000"/>
        </p:xfrm>
        <a:graphic>
          <a:graphicData uri="http://schemas.openxmlformats.org/drawingml/2006/table">
            <a:tbl>
              <a:tblPr>
                <a:noFill/>
                <a:tableStyleId>{797E7BFC-4989-4B1F-BA66-CAACD3B82B48}</a:tableStyleId>
              </a:tblPr>
              <a:tblGrid>
                <a:gridCol w="2506950"/>
                <a:gridCol w="2142300"/>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2" name="Google Shape;242;g3c85563ff4c_0_386"/>
          <p:cNvSpPr txBox="1"/>
          <p:nvPr/>
        </p:nvSpPr>
        <p:spPr>
          <a:xfrm>
            <a:off x="340888" y="4891950"/>
            <a:ext cx="4754400" cy="73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t>Apply Formula</a:t>
            </a:r>
            <a:endParaRPr b="1" sz="1300"/>
          </a:p>
          <a:p>
            <a:pPr indent="0" lvl="0" marL="0" rtl="0" algn="l">
              <a:lnSpc>
                <a:spcPct val="115000"/>
              </a:lnSpc>
              <a:spcBef>
                <a:spcPts val="1200"/>
              </a:spcBef>
              <a:spcAft>
                <a:spcPts val="1200"/>
              </a:spcAft>
              <a:buNone/>
            </a:pPr>
            <a:r>
              <a:t/>
            </a:r>
            <a:endParaRPr sz="1100"/>
          </a:p>
        </p:txBody>
      </p:sp>
      <p:graphicFrame>
        <p:nvGraphicFramePr>
          <p:cNvPr id="243" name="Google Shape;243;g3c85563ff4c_0_386"/>
          <p:cNvGraphicFramePr/>
          <p:nvPr/>
        </p:nvGraphicFramePr>
        <p:xfrm>
          <a:off x="2247375" y="4960575"/>
          <a:ext cx="3000000" cy="3000000"/>
        </p:xfrm>
        <a:graphic>
          <a:graphicData uri="http://schemas.openxmlformats.org/drawingml/2006/table">
            <a:tbl>
              <a:tblPr>
                <a:noFill/>
                <a:tableStyleId>{797E7BFC-4989-4B1F-BA66-CAACD3B82B48}</a:tableStyleId>
              </a:tblPr>
              <a:tblGrid>
                <a:gridCol w="1067225"/>
                <a:gridCol w="1164225"/>
                <a:gridCol w="2949400"/>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Original</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After Decimal Scaling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0.45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0.67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89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0.89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c85563ff4c_0_3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Solve this example with </a:t>
            </a:r>
            <a:endParaRPr sz="4400">
              <a:solidFill>
                <a:schemeClr val="dk1"/>
              </a:solidFill>
              <a:latin typeface="Calibri"/>
              <a:ea typeface="Calibri"/>
              <a:cs typeface="Calibri"/>
              <a:sym typeface="Calibri"/>
            </a:endParaRPr>
          </a:p>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Decimal Scaling</a:t>
            </a:r>
            <a:endParaRPr/>
          </a:p>
        </p:txBody>
      </p:sp>
      <p:graphicFrame>
        <p:nvGraphicFramePr>
          <p:cNvPr id="249" name="Google Shape;249;g3c85563ff4c_0_395"/>
          <p:cNvGraphicFramePr/>
          <p:nvPr/>
        </p:nvGraphicFramePr>
        <p:xfrm>
          <a:off x="3177263" y="3528650"/>
          <a:ext cx="3000000" cy="3000000"/>
        </p:xfrm>
        <a:graphic>
          <a:graphicData uri="http://schemas.openxmlformats.org/drawingml/2006/table">
            <a:tbl>
              <a:tblPr>
                <a:noFill/>
                <a:tableStyleId>{797E7BFC-4989-4B1F-BA66-CAACD3B82B48}</a:tableStyleId>
              </a:tblPr>
              <a:tblGrid>
                <a:gridCol w="2789475"/>
              </a:tblGrid>
              <a:tr h="200025">
                <a:tc>
                  <a:txBody>
                    <a:bodyPr/>
                    <a:lstStyle/>
                    <a:p>
                      <a:pPr indent="0" lvl="0" marL="0" rtl="0" algn="ctr">
                        <a:lnSpc>
                          <a:spcPct val="115000"/>
                        </a:lnSpc>
                        <a:spcBef>
                          <a:spcPts val="0"/>
                        </a:spcBef>
                        <a:spcAft>
                          <a:spcPts val="0"/>
                        </a:spcAft>
                        <a:buNone/>
                      </a:pPr>
                      <a:r>
                        <a:rPr b="1" lang="en-US" sz="1100"/>
                        <a:t>Salary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25000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50000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75000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c85563ff4c_0_4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Reduction</a:t>
            </a:r>
            <a:endParaRPr/>
          </a:p>
        </p:txBody>
      </p:sp>
      <p:sp>
        <p:nvSpPr>
          <p:cNvPr id="255" name="Google Shape;255;g3c85563ff4c_0_40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It reduces the dataset's size while maintaining key information. This can be done through feature selection which chooses the most relevant features and feature extraction which transforms the data into a lower-dimensional space while preserving important details.</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Improves processing speed</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Saves storage space</a:t>
            </a:r>
            <a:endParaRPr sz="2600">
              <a:solidFill>
                <a:schemeClr val="dk1"/>
              </a:solidFill>
              <a:latin typeface="Calibri"/>
              <a:ea typeface="Calibri"/>
              <a:cs typeface="Calibri"/>
              <a:sym typeface="Calibri"/>
            </a:endParaRPr>
          </a:p>
          <a:p>
            <a:pPr indent="-336550" lvl="1" marL="74295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Makes analysis easier</a:t>
            </a:r>
            <a:endParaRPr sz="26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c85563ff4c_0_4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Reduction Techniques</a:t>
            </a:r>
            <a:endParaRPr/>
          </a:p>
        </p:txBody>
      </p:sp>
      <p:sp>
        <p:nvSpPr>
          <p:cNvPr id="261" name="Google Shape;261;g3c85563ff4c_0_41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92500" lnSpcReduction="20000"/>
          </a:bodyPr>
          <a:lstStyle/>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Principal Component Analysis (PCA): Reduces dimensions by projecting data onto principal components.</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Linear Discriminant Analysis (LDA): Reduces dimensions while maximizing class separation.</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Filter Methods: Select features based on statistical measures.</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Wrapper Methods: Select features using model performance.</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Embedded Methods: Perform feature selection during model training.</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Simple Random Sampling: Selects data points randomly from the dataset.</a:t>
            </a:r>
            <a:endParaRPr sz="2600">
              <a:solidFill>
                <a:schemeClr val="dk1"/>
              </a:solidFill>
              <a:latin typeface="Calibri"/>
              <a:ea typeface="Calibri"/>
              <a:cs typeface="Calibri"/>
              <a:sym typeface="Calibri"/>
            </a:endParaRPr>
          </a:p>
          <a:p>
            <a:pPr indent="-292417" lvl="0" marL="342900" rtl="0" algn="just">
              <a:spcBef>
                <a:spcPts val="0"/>
              </a:spcBef>
              <a:spcAft>
                <a:spcPts val="0"/>
              </a:spcAft>
              <a:buClr>
                <a:schemeClr val="dk1"/>
              </a:buClr>
              <a:buSzPct val="100000"/>
              <a:buChar char="●"/>
            </a:pPr>
            <a:r>
              <a:rPr lang="en-US" sz="2600">
                <a:solidFill>
                  <a:schemeClr val="dk1"/>
                </a:solidFill>
                <a:latin typeface="Calibri"/>
                <a:ea typeface="Calibri"/>
                <a:cs typeface="Calibri"/>
                <a:sym typeface="Calibri"/>
              </a:rPr>
              <a:t>Stratified Sampling: Samples data proportionally from each class.</a:t>
            </a:r>
            <a:endParaRPr sz="26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c85563ff4c_0_4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Benefits of </a:t>
            </a:r>
            <a:r>
              <a:rPr lang="en-US" sz="4400">
                <a:solidFill>
                  <a:schemeClr val="dk1"/>
                </a:solidFill>
                <a:latin typeface="Calibri"/>
                <a:ea typeface="Calibri"/>
                <a:cs typeface="Calibri"/>
                <a:sym typeface="Calibri"/>
              </a:rPr>
              <a:t>Data Preprocessing</a:t>
            </a:r>
            <a:endParaRPr/>
          </a:p>
        </p:txBody>
      </p:sp>
      <p:sp>
        <p:nvSpPr>
          <p:cNvPr id="267" name="Google Shape;267;g3c85563ff4c_0_4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Improves data quality</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Increases accuracy of mining results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Reduces errors in models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Makes data easier to understand</a:t>
            </a:r>
            <a:endParaRPr sz="26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c85563ff4c_0_4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a:t>
            </a:r>
            <a:r>
              <a:rPr lang="en-US" sz="4400">
                <a:solidFill>
                  <a:schemeClr val="dk1"/>
                </a:solidFill>
                <a:latin typeface="Calibri"/>
                <a:ea typeface="Calibri"/>
                <a:cs typeface="Calibri"/>
                <a:sym typeface="Calibri"/>
              </a:rPr>
              <a:t>Discretization</a:t>
            </a:r>
            <a:endParaRPr/>
          </a:p>
        </p:txBody>
      </p:sp>
      <p:sp>
        <p:nvSpPr>
          <p:cNvPr id="273" name="Google Shape;273;g3c85563ff4c_0_43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Data discretization is a preprocessing technique that converts continuous, quantitative data into discrete, categorical bins or intervals. It reduces data volume, improves model performance, and enhances interpretability by turning precise, high-cardinality numbers into meaningful, ranked groups (e.g., converting exact ages to "child," "adult," "senior"). Common techniques include binning, histogram analysis, and clustering.</a:t>
            </a:r>
            <a:endParaRPr sz="26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c85563ff4c_0_4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Discretization</a:t>
            </a:r>
            <a:endParaRPr/>
          </a:p>
        </p:txBody>
      </p:sp>
      <p:pic>
        <p:nvPicPr>
          <p:cNvPr id="279" name="Google Shape;279;g3c85563ff4c_0_438"/>
          <p:cNvPicPr preferRelativeResize="0"/>
          <p:nvPr/>
        </p:nvPicPr>
        <p:blipFill>
          <a:blip r:embed="rId3">
            <a:alphaModFix/>
          </a:blip>
          <a:stretch>
            <a:fillRect/>
          </a:stretch>
        </p:blipFill>
        <p:spPr>
          <a:xfrm>
            <a:off x="152400" y="1570038"/>
            <a:ext cx="8839200" cy="443903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c85563ff4c_0_4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Discretization Example</a:t>
            </a:r>
            <a:endParaRPr/>
          </a:p>
        </p:txBody>
      </p:sp>
      <p:graphicFrame>
        <p:nvGraphicFramePr>
          <p:cNvPr id="285" name="Google Shape;285;g3c85563ff4c_0_445"/>
          <p:cNvGraphicFramePr/>
          <p:nvPr/>
        </p:nvGraphicFramePr>
        <p:xfrm>
          <a:off x="363400" y="1870650"/>
          <a:ext cx="3000000" cy="3000000"/>
        </p:xfrm>
        <a:graphic>
          <a:graphicData uri="http://schemas.openxmlformats.org/drawingml/2006/table">
            <a:tbl>
              <a:tblPr>
                <a:noFill/>
                <a:tableStyleId>{797E7BFC-4989-4B1F-BA66-CAACD3B82B48}</a:tableStyleId>
              </a:tblPr>
              <a:tblGrid>
                <a:gridCol w="1994350"/>
                <a:gridCol w="1051575"/>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Age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18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22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35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42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86" name="Google Shape;286;g3c85563ff4c_0_445"/>
          <p:cNvGraphicFramePr/>
          <p:nvPr/>
        </p:nvGraphicFramePr>
        <p:xfrm>
          <a:off x="4340275" y="1870650"/>
          <a:ext cx="3000000" cy="3000000"/>
        </p:xfrm>
        <a:graphic>
          <a:graphicData uri="http://schemas.openxmlformats.org/drawingml/2006/table">
            <a:tbl>
              <a:tblPr>
                <a:noFill/>
                <a:tableStyleId>{797E7BFC-4989-4B1F-BA66-CAACD3B82B48}</a:tableStyleId>
              </a:tblPr>
              <a:tblGrid>
                <a:gridCol w="1475675"/>
                <a:gridCol w="778075"/>
                <a:gridCol w="2092775"/>
              </a:tblGrid>
              <a:tr h="200025">
                <a:tc>
                  <a:txBody>
                    <a:bodyPr/>
                    <a:lstStyle/>
                    <a:p>
                      <a:pPr indent="0" lvl="0" marL="0" rtl="0" algn="ctr">
                        <a:lnSpc>
                          <a:spcPct val="115000"/>
                        </a:lnSpc>
                        <a:spcBef>
                          <a:spcPts val="0"/>
                        </a:spcBef>
                        <a:spcAft>
                          <a:spcPts val="0"/>
                        </a:spcAft>
                        <a:buNone/>
                      </a:pPr>
                      <a:r>
                        <a:rPr b="1" lang="en-US" sz="1100"/>
                        <a:t>Student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Age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Age Group</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Young</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B</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Adult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Adult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Senior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Senior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87" name="Google Shape;287;g3c85563ff4c_0_445"/>
          <p:cNvSpPr/>
          <p:nvPr/>
        </p:nvSpPr>
        <p:spPr>
          <a:xfrm>
            <a:off x="3526975" y="2592475"/>
            <a:ext cx="709500" cy="33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 name="Google Shape;288;g3c85563ff4c_0_445"/>
          <p:cNvSpPr txBox="1"/>
          <p:nvPr/>
        </p:nvSpPr>
        <p:spPr>
          <a:xfrm>
            <a:off x="2381725" y="4659000"/>
            <a:ext cx="30000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We will create age groups:</a:t>
            </a:r>
            <a:endParaRPr/>
          </a:p>
          <a:p>
            <a:pPr indent="-298450" lvl="0" marL="457200" rtl="0" algn="l">
              <a:lnSpc>
                <a:spcPct val="115000"/>
              </a:lnSpc>
              <a:spcBef>
                <a:spcPts val="1200"/>
              </a:spcBef>
              <a:spcAft>
                <a:spcPts val="0"/>
              </a:spcAft>
              <a:buSzPts val="1100"/>
              <a:buChar char="●"/>
            </a:pPr>
            <a:r>
              <a:rPr lang="en-US"/>
              <a:t>0–20 → Young</a:t>
            </a:r>
            <a:br>
              <a:rPr lang="en-US"/>
            </a:br>
            <a:endParaRPr/>
          </a:p>
          <a:p>
            <a:pPr indent="-298450" lvl="0" marL="457200" rtl="0" algn="l">
              <a:lnSpc>
                <a:spcPct val="115000"/>
              </a:lnSpc>
              <a:spcBef>
                <a:spcPts val="0"/>
              </a:spcBef>
              <a:spcAft>
                <a:spcPts val="0"/>
              </a:spcAft>
              <a:buSzPts val="1100"/>
              <a:buChar char="●"/>
            </a:pPr>
            <a:r>
              <a:rPr lang="en-US"/>
              <a:t>21–40 → Adult</a:t>
            </a:r>
            <a:br>
              <a:rPr lang="en-US"/>
            </a:br>
            <a:endParaRPr/>
          </a:p>
          <a:p>
            <a:pPr indent="-298450" lvl="0" marL="457200" rtl="0" algn="l">
              <a:lnSpc>
                <a:spcPct val="115000"/>
              </a:lnSpc>
              <a:spcBef>
                <a:spcPts val="0"/>
              </a:spcBef>
              <a:spcAft>
                <a:spcPts val="0"/>
              </a:spcAft>
              <a:buSzPts val="1100"/>
              <a:buChar char="●"/>
            </a:pPr>
            <a:r>
              <a:rPr lang="en-US"/>
              <a:t>41–60 → Senior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c85563ff4c_0_4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Solve it!</a:t>
            </a:r>
            <a:endParaRPr/>
          </a:p>
        </p:txBody>
      </p:sp>
      <p:graphicFrame>
        <p:nvGraphicFramePr>
          <p:cNvPr id="294" name="Google Shape;294;g3c85563ff4c_0_480"/>
          <p:cNvGraphicFramePr/>
          <p:nvPr/>
        </p:nvGraphicFramePr>
        <p:xfrm>
          <a:off x="4340275" y="1870650"/>
          <a:ext cx="3000000" cy="3000000"/>
        </p:xfrm>
        <a:graphic>
          <a:graphicData uri="http://schemas.openxmlformats.org/drawingml/2006/table">
            <a:tbl>
              <a:tblPr>
                <a:noFill/>
                <a:tableStyleId>{797E7BFC-4989-4B1F-BA66-CAACD3B82B48}</a:tableStyleId>
              </a:tblPr>
              <a:tblGrid>
                <a:gridCol w="778075"/>
                <a:gridCol w="2092775"/>
              </a:tblGrid>
              <a:tr h="200025">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Grade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35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55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72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90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35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95" name="Google Shape;295;g3c85563ff4c_0_480"/>
          <p:cNvSpPr/>
          <p:nvPr/>
        </p:nvSpPr>
        <p:spPr>
          <a:xfrm>
            <a:off x="3526975" y="2592475"/>
            <a:ext cx="709500" cy="33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aphicFrame>
        <p:nvGraphicFramePr>
          <p:cNvPr id="296" name="Google Shape;296;g3c85563ff4c_0_480"/>
          <p:cNvGraphicFramePr/>
          <p:nvPr/>
        </p:nvGraphicFramePr>
        <p:xfrm>
          <a:off x="634725" y="2066850"/>
          <a:ext cx="3000000" cy="3000000"/>
        </p:xfrm>
        <a:graphic>
          <a:graphicData uri="http://schemas.openxmlformats.org/drawingml/2006/table">
            <a:tbl>
              <a:tblPr>
                <a:noFill/>
                <a:tableStyleId>{797E7BFC-4989-4B1F-BA66-CAACD3B82B48}</a:tableStyleId>
              </a:tblPr>
              <a:tblGrid>
                <a:gridCol w="1924775"/>
              </a:tblGrid>
              <a:tr h="200025">
                <a:tc>
                  <a:txBody>
                    <a:bodyPr/>
                    <a:lstStyle/>
                    <a:p>
                      <a:pPr indent="0" lvl="0" marL="0" rtl="0" algn="ctr">
                        <a:lnSpc>
                          <a:spcPct val="115000"/>
                        </a:lnSpc>
                        <a:spcBef>
                          <a:spcPts val="0"/>
                        </a:spcBef>
                        <a:spcAft>
                          <a:spcPts val="0"/>
                        </a:spcAft>
                        <a:buNone/>
                      </a:pPr>
                      <a:r>
                        <a:rPr b="1" lang="en-US" sz="1100"/>
                        <a:t>Marks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35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55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72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90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c85563ff4c_0_4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Advantages</a:t>
            </a:r>
            <a:r>
              <a:rPr lang="en-US" sz="4400">
                <a:solidFill>
                  <a:schemeClr val="dk1"/>
                </a:solidFill>
                <a:latin typeface="Calibri"/>
                <a:ea typeface="Calibri"/>
                <a:cs typeface="Calibri"/>
                <a:sym typeface="Calibri"/>
              </a:rPr>
              <a:t> of Data Preprocessing</a:t>
            </a:r>
            <a:endParaRPr/>
          </a:p>
        </p:txBody>
      </p:sp>
      <p:sp>
        <p:nvSpPr>
          <p:cNvPr id="302" name="Google Shape;302;g3c85563ff4c_0_42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Improved Data Quality: Ensures data is clean, consistent, and reliable for analysis.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Better Model Performance: Reduces noise and irrelevant data, leading to more accurate predictions and insights.</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Efficient Data Analysis: Streamlines data for faster and easier processing.</a:t>
            </a:r>
            <a:endParaRPr sz="2600">
              <a:solidFill>
                <a:schemeClr val="dk1"/>
              </a:solidFill>
              <a:latin typeface="Calibri"/>
              <a:ea typeface="Calibri"/>
              <a:cs typeface="Calibri"/>
              <a:sym typeface="Calibri"/>
            </a:endParaRPr>
          </a:p>
          <a:p>
            <a:pPr indent="-304800" lvl="0" marL="342900" rtl="0" algn="just">
              <a:spcBef>
                <a:spcPts val="0"/>
              </a:spcBef>
              <a:spcAft>
                <a:spcPts val="0"/>
              </a:spcAft>
              <a:buClr>
                <a:schemeClr val="dk1"/>
              </a:buClr>
              <a:buSzPts val="2600"/>
              <a:buChar char="●"/>
            </a:pPr>
            <a:r>
              <a:rPr lang="en-US" sz="2600">
                <a:solidFill>
                  <a:schemeClr val="dk1"/>
                </a:solidFill>
                <a:latin typeface="Calibri"/>
                <a:ea typeface="Calibri"/>
                <a:cs typeface="Calibri"/>
                <a:sym typeface="Calibri"/>
              </a:rPr>
              <a:t>Enhanced Decision-Making: Provides clear and well-organized data for better business decisions.</a:t>
            </a:r>
            <a:endParaRPr sz="26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c85563ff4c_0_4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Advantages of Data Preprocessing</a:t>
            </a:r>
            <a:endParaRPr/>
          </a:p>
        </p:txBody>
      </p:sp>
      <p:pic>
        <p:nvPicPr>
          <p:cNvPr id="308" name="Google Shape;308;g3c85563ff4c_0_426"/>
          <p:cNvPicPr preferRelativeResize="0"/>
          <p:nvPr/>
        </p:nvPicPr>
        <p:blipFill rotWithShape="1">
          <a:blip r:embed="rId3">
            <a:alphaModFix/>
          </a:blip>
          <a:srcRect b="9915" l="0" r="0" t="14913"/>
          <a:stretch/>
        </p:blipFill>
        <p:spPr>
          <a:xfrm>
            <a:off x="686450" y="1522325"/>
            <a:ext cx="7771101" cy="51547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c85563ff4c_0_491"/>
          <p:cNvSpPr txBox="1"/>
          <p:nvPr>
            <p:ph type="title"/>
          </p:nvPr>
        </p:nvSpPr>
        <p:spPr>
          <a:xfrm>
            <a:off x="457200" y="2445113"/>
            <a:ext cx="8229600" cy="2363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sz="6000">
                <a:solidFill>
                  <a:schemeClr val="dk1"/>
                </a:solidFill>
                <a:latin typeface="Calibri"/>
                <a:ea typeface="Calibri"/>
                <a:cs typeface="Calibri"/>
                <a:sym typeface="Calibri"/>
              </a:rPr>
              <a:t>Evaluation of Classification Methods</a:t>
            </a:r>
            <a:endParaRPr sz="6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What is Evaluation of Classification Methods?</a:t>
            </a:r>
            <a:endParaRPr/>
          </a:p>
        </p:txBody>
      </p:sp>
      <p:sp>
        <p:nvSpPr>
          <p:cNvPr id="319" name="Google Shape;3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Measuring how well a classification model is performing.</a:t>
            </a:r>
            <a:endParaRPr/>
          </a:p>
          <a:p>
            <a:pPr indent="0" lvl="0" marL="0" rtl="0" algn="l">
              <a:spcBef>
                <a:spcPts val="560"/>
              </a:spcBef>
              <a:spcAft>
                <a:spcPts val="0"/>
              </a:spcAft>
              <a:buNone/>
            </a:pPr>
            <a:r>
              <a:rPr b="1" lang="en-US" sz="2800">
                <a:solidFill>
                  <a:schemeClr val="dk1"/>
                </a:solidFill>
                <a:latin typeface="Calibri"/>
                <a:ea typeface="Calibri"/>
                <a:cs typeface="Calibri"/>
                <a:sym typeface="Calibri"/>
              </a:rPr>
              <a:t>Example:</a:t>
            </a:r>
            <a:endParaRPr b="1" sz="2800">
              <a:solidFill>
                <a:schemeClr val="dk1"/>
              </a:solidFill>
              <a:latin typeface="Calibri"/>
              <a:ea typeface="Calibri"/>
              <a:cs typeface="Calibri"/>
              <a:sym typeface="Calibri"/>
            </a:endParaRPr>
          </a:p>
          <a:p>
            <a:pPr indent="-285750" lvl="1" marL="742950" rtl="0" algn="l">
              <a:spcBef>
                <a:spcPts val="1200"/>
              </a:spcBef>
              <a:spcAft>
                <a:spcPts val="0"/>
              </a:spcAft>
              <a:buClr>
                <a:schemeClr val="dk1"/>
              </a:buClr>
              <a:buSzPts val="2800"/>
              <a:buChar char="○"/>
            </a:pPr>
            <a:r>
              <a:rPr lang="en-US" sz="2800">
                <a:solidFill>
                  <a:schemeClr val="dk1"/>
                </a:solidFill>
                <a:latin typeface="Calibri"/>
                <a:ea typeface="Calibri"/>
                <a:cs typeface="Calibri"/>
                <a:sym typeface="Calibri"/>
              </a:rPr>
              <a:t>Spam vs Not Spam</a:t>
            </a:r>
            <a:endParaRPr sz="2800">
              <a:solidFill>
                <a:schemeClr val="dk1"/>
              </a:solidFill>
              <a:latin typeface="Calibri"/>
              <a:ea typeface="Calibri"/>
              <a:cs typeface="Calibri"/>
              <a:sym typeface="Calibri"/>
            </a:endParaRPr>
          </a:p>
          <a:p>
            <a:pPr indent="-285750" lvl="1" marL="742950" rtl="0" algn="l">
              <a:spcBef>
                <a:spcPts val="1200"/>
              </a:spcBef>
              <a:spcAft>
                <a:spcPts val="0"/>
              </a:spcAft>
              <a:buClr>
                <a:schemeClr val="dk1"/>
              </a:buClr>
              <a:buSzPts val="2800"/>
              <a:buChar char="○"/>
            </a:pPr>
            <a:r>
              <a:rPr lang="en-US" sz="2800">
                <a:solidFill>
                  <a:schemeClr val="dk1"/>
                </a:solidFill>
                <a:latin typeface="Calibri"/>
                <a:ea typeface="Calibri"/>
                <a:cs typeface="Calibri"/>
                <a:sym typeface="Calibri"/>
              </a:rPr>
              <a:t>Disease vs No Disease</a:t>
            </a:r>
            <a:endParaRPr sz="2800">
              <a:solidFill>
                <a:schemeClr val="dk1"/>
              </a:solidFill>
              <a:latin typeface="Calibri"/>
              <a:ea typeface="Calibri"/>
              <a:cs typeface="Calibri"/>
              <a:sym typeface="Calibri"/>
            </a:endParaRPr>
          </a:p>
          <a:p>
            <a:pPr indent="-285750" lvl="1" marL="742950" rtl="0" algn="l">
              <a:spcBef>
                <a:spcPts val="1200"/>
              </a:spcBef>
              <a:spcAft>
                <a:spcPts val="1200"/>
              </a:spcAft>
              <a:buClr>
                <a:schemeClr val="dk1"/>
              </a:buClr>
              <a:buSzPts val="2800"/>
              <a:buChar char="○"/>
            </a:pPr>
            <a:r>
              <a:rPr lang="en-US" sz="2800">
                <a:solidFill>
                  <a:schemeClr val="dk1"/>
                </a:solidFill>
                <a:latin typeface="Calibri"/>
                <a:ea typeface="Calibri"/>
                <a:cs typeface="Calibri"/>
                <a:sym typeface="Calibri"/>
              </a:rPr>
              <a:t>Pass vs Fail</a:t>
            </a:r>
            <a:endParaRPr sz="2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c85563ff4c_0_4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Confusion Matrix</a:t>
            </a:r>
            <a:endParaRPr/>
          </a:p>
        </p:txBody>
      </p:sp>
      <p:pic>
        <p:nvPicPr>
          <p:cNvPr id="325" name="Google Shape;325;g3c85563ff4c_0_496"/>
          <p:cNvPicPr preferRelativeResize="0"/>
          <p:nvPr/>
        </p:nvPicPr>
        <p:blipFill>
          <a:blip r:embed="rId3">
            <a:alphaModFix/>
          </a:blip>
          <a:stretch>
            <a:fillRect/>
          </a:stretch>
        </p:blipFill>
        <p:spPr>
          <a:xfrm>
            <a:off x="2043113" y="1570038"/>
            <a:ext cx="5057775" cy="42386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c85563ff4c_0_5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Confusion Matrix</a:t>
            </a:r>
            <a:endParaRPr/>
          </a:p>
        </p:txBody>
      </p:sp>
      <p:graphicFrame>
        <p:nvGraphicFramePr>
          <p:cNvPr id="331" name="Google Shape;331;g3c85563ff4c_0_504"/>
          <p:cNvGraphicFramePr/>
          <p:nvPr/>
        </p:nvGraphicFramePr>
        <p:xfrm>
          <a:off x="875875" y="2187200"/>
          <a:ext cx="3000000" cy="3000000"/>
        </p:xfrm>
        <a:graphic>
          <a:graphicData uri="http://schemas.openxmlformats.org/drawingml/2006/table">
            <a:tbl>
              <a:tblPr>
                <a:noFill/>
                <a:tableStyleId>{797E7BFC-4989-4B1F-BA66-CAACD3B82B48}</a:tableStyleId>
              </a:tblPr>
              <a:tblGrid>
                <a:gridCol w="2126825"/>
                <a:gridCol w="2815775"/>
                <a:gridCol w="2725925"/>
              </a:tblGrid>
              <a:tr h="628800">
                <a:tc>
                  <a:txBody>
                    <a:bodyPr/>
                    <a:lstStyle/>
                    <a:p>
                      <a:pPr indent="0" lvl="0" marL="0" rtl="0" algn="ctr">
                        <a:spcBef>
                          <a:spcPts val="0"/>
                        </a:spcBef>
                        <a:spcAft>
                          <a:spcPts val="0"/>
                        </a:spcAft>
                        <a:buNone/>
                      </a:pPr>
                      <a:r>
                        <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3100"/>
                        <a:t>Predicted Yes</a:t>
                      </a:r>
                      <a:endParaRPr b="1"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3100"/>
                        <a:t>Predicted No</a:t>
                      </a:r>
                      <a:endParaRPr b="1"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2775">
                <a:tc>
                  <a:txBody>
                    <a:bodyPr/>
                    <a:lstStyle/>
                    <a:p>
                      <a:pPr indent="0" lvl="0" marL="0" rtl="0" algn="ctr">
                        <a:spcBef>
                          <a:spcPts val="0"/>
                        </a:spcBef>
                        <a:spcAft>
                          <a:spcPts val="0"/>
                        </a:spcAft>
                        <a:buNone/>
                      </a:pPr>
                      <a:r>
                        <a:rPr lang="en-US" sz="3100"/>
                        <a:t>Actual Yes</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100"/>
                        <a:t>50</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100"/>
                        <a:t>10</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2775">
                <a:tc>
                  <a:txBody>
                    <a:bodyPr/>
                    <a:lstStyle/>
                    <a:p>
                      <a:pPr indent="0" lvl="0" marL="0" rtl="0" algn="ctr">
                        <a:spcBef>
                          <a:spcPts val="0"/>
                        </a:spcBef>
                        <a:spcAft>
                          <a:spcPts val="0"/>
                        </a:spcAft>
                        <a:buNone/>
                      </a:pPr>
                      <a:r>
                        <a:rPr lang="en-US" sz="3100"/>
                        <a:t>Actual No</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100"/>
                        <a:t>5</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100"/>
                        <a:t>35</a:t>
                      </a:r>
                      <a:endParaRPr sz="3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c85563ff4c_0_5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Four Terms in Confusion Matrix</a:t>
            </a:r>
            <a:endParaRPr/>
          </a:p>
        </p:txBody>
      </p:sp>
      <p:sp>
        <p:nvSpPr>
          <p:cNvPr id="337" name="Google Shape;337;g3c85563ff4c_0_5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TP (True Positive) = 50</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Correctly predicted disease</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FN (False Negative) = 10</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Disease but predicted No</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FP (False Positive) = 5</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No disease but predicted Yes</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TN (True Negative) = 35</a:t>
            </a:r>
            <a:endParaRPr sz="32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Correctly predicted No disease</a:t>
            </a:r>
            <a:endParaRPr sz="3200">
              <a:solidFill>
                <a:schemeClr val="dk1"/>
              </a:solidFill>
              <a:latin typeface="Calibri"/>
              <a:ea typeface="Calibri"/>
              <a:cs typeface="Calibri"/>
              <a:sym typeface="Calibri"/>
            </a:endParaRPr>
          </a:p>
        </p:txBody>
      </p:sp>
      <p:sp>
        <p:nvSpPr>
          <p:cNvPr id="338" name="Google Shape;338;g3c85563ff4c_0_511"/>
          <p:cNvSpPr txBox="1"/>
          <p:nvPr/>
        </p:nvSpPr>
        <p:spPr>
          <a:xfrm>
            <a:off x="5802925" y="3115050"/>
            <a:ext cx="3000000" cy="190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t>Example: FP</a:t>
            </a:r>
            <a:endParaRPr b="1" sz="1300"/>
          </a:p>
          <a:p>
            <a:pPr indent="0" lvl="0" marL="0" rtl="0" algn="l">
              <a:lnSpc>
                <a:spcPct val="115000"/>
              </a:lnSpc>
              <a:spcBef>
                <a:spcPts val="1400"/>
              </a:spcBef>
              <a:spcAft>
                <a:spcPts val="0"/>
              </a:spcAft>
              <a:buNone/>
            </a:pPr>
            <a:r>
              <a:rPr b="1" lang="en-US" sz="1300"/>
              <a:t>🔹 False</a:t>
            </a:r>
            <a:endParaRPr b="1" sz="1300"/>
          </a:p>
          <a:p>
            <a:pPr indent="0" lvl="0" marL="0" rtl="0" algn="l">
              <a:lnSpc>
                <a:spcPct val="115000"/>
              </a:lnSpc>
              <a:spcBef>
                <a:spcPts val="1200"/>
              </a:spcBef>
              <a:spcAft>
                <a:spcPts val="0"/>
              </a:spcAft>
              <a:buNone/>
            </a:pPr>
            <a:r>
              <a:rPr lang="en-US" sz="1100"/>
              <a:t>→ Model is </a:t>
            </a:r>
            <a:r>
              <a:rPr b="1" lang="en-US" sz="1100"/>
              <a:t>wrong</a:t>
            </a:r>
            <a:endParaRPr b="1" sz="1100"/>
          </a:p>
          <a:p>
            <a:pPr indent="0" lvl="0" marL="0" rtl="0" algn="l">
              <a:lnSpc>
                <a:spcPct val="115000"/>
              </a:lnSpc>
              <a:spcBef>
                <a:spcPts val="1400"/>
              </a:spcBef>
              <a:spcAft>
                <a:spcPts val="0"/>
              </a:spcAft>
              <a:buNone/>
            </a:pPr>
            <a:r>
              <a:rPr b="1" lang="en-US" sz="1300"/>
              <a:t>🔹 Positive</a:t>
            </a:r>
            <a:endParaRPr b="1" sz="1300"/>
          </a:p>
          <a:p>
            <a:pPr indent="0" lvl="0" marL="0" rtl="0" algn="l">
              <a:lnSpc>
                <a:spcPct val="115000"/>
              </a:lnSpc>
              <a:spcBef>
                <a:spcPts val="1200"/>
              </a:spcBef>
              <a:spcAft>
                <a:spcPts val="1200"/>
              </a:spcAft>
              <a:buNone/>
            </a:pPr>
            <a:r>
              <a:rPr lang="en-US" sz="1100"/>
              <a:t>→ Model predicted </a:t>
            </a:r>
            <a:r>
              <a:rPr b="1" lang="en-US" sz="1100"/>
              <a:t>Positive (Yes)</a:t>
            </a:r>
            <a:endParaRPr b="1" sz="1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c85563ff4c_0_5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Confusion Matrix</a:t>
            </a:r>
            <a:endParaRPr/>
          </a:p>
        </p:txBody>
      </p:sp>
      <p:graphicFrame>
        <p:nvGraphicFramePr>
          <p:cNvPr id="344" name="Google Shape;344;g3c85563ff4c_0_525"/>
          <p:cNvGraphicFramePr/>
          <p:nvPr/>
        </p:nvGraphicFramePr>
        <p:xfrm>
          <a:off x="875875" y="4553600"/>
          <a:ext cx="3000000" cy="3000000"/>
        </p:xfrm>
        <a:graphic>
          <a:graphicData uri="http://schemas.openxmlformats.org/drawingml/2006/table">
            <a:tbl>
              <a:tblPr>
                <a:noFill/>
                <a:tableStyleId>{797E7BFC-4989-4B1F-BA66-CAACD3B82B48}</a:tableStyleId>
              </a:tblPr>
              <a:tblGrid>
                <a:gridCol w="2126825"/>
                <a:gridCol w="2815775"/>
                <a:gridCol w="2725925"/>
              </a:tblGrid>
              <a:tr h="200025">
                <a:tc>
                  <a:txBody>
                    <a:bodyPr/>
                    <a:lstStyle/>
                    <a:p>
                      <a:pPr indent="0" lvl="0" marL="0" rtl="0" algn="l">
                        <a:spcBef>
                          <a:spcPts val="0"/>
                        </a:spcBef>
                        <a:spcAft>
                          <a:spcPts val="0"/>
                        </a:spcAft>
                        <a:buNone/>
                      </a:pPr>
                      <a:r>
                        <a:t/>
                      </a:r>
                      <a:endParaRPr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3000"/>
                        <a:t>Predicted Yes</a:t>
                      </a:r>
                      <a:endParaRPr b="1"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3000"/>
                        <a:t>Predicted No</a:t>
                      </a:r>
                      <a:endParaRPr b="1"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3000"/>
                        <a:t>Actual Yes</a:t>
                      </a:r>
                      <a:endParaRPr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3000"/>
                        <a:t>TP = 50</a:t>
                      </a:r>
                      <a:endParaRPr b="1"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3000"/>
                        <a:t>FN = 10</a:t>
                      </a:r>
                      <a:endParaRPr b="1"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3000"/>
                        <a:t>Actual No</a:t>
                      </a:r>
                      <a:endParaRPr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3000"/>
                        <a:t>FP = 5</a:t>
                      </a:r>
                      <a:endParaRPr b="1"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US" sz="3000"/>
                        <a:t>TN = 35</a:t>
                      </a:r>
                      <a:endParaRPr b="1" sz="3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345" name="Google Shape;345;g3c85563ff4c_0_525"/>
          <p:cNvGraphicFramePr/>
          <p:nvPr/>
        </p:nvGraphicFramePr>
        <p:xfrm>
          <a:off x="844288" y="1840500"/>
          <a:ext cx="3000000" cy="3000000"/>
        </p:xfrm>
        <a:graphic>
          <a:graphicData uri="http://schemas.openxmlformats.org/drawingml/2006/table">
            <a:tbl>
              <a:tblPr>
                <a:noFill/>
                <a:tableStyleId>{797E7BFC-4989-4B1F-BA66-CAACD3B82B48}</a:tableStyleId>
              </a:tblPr>
              <a:tblGrid>
                <a:gridCol w="1101250"/>
                <a:gridCol w="6630450"/>
              </a:tblGrid>
              <a:tr h="200025">
                <a:tc>
                  <a:txBody>
                    <a:bodyPr/>
                    <a:lstStyle/>
                    <a:p>
                      <a:pPr indent="0" lvl="0" marL="0" rtl="0" algn="ctr">
                        <a:lnSpc>
                          <a:spcPct val="115000"/>
                        </a:lnSpc>
                        <a:spcBef>
                          <a:spcPts val="0"/>
                        </a:spcBef>
                        <a:spcAft>
                          <a:spcPts val="0"/>
                        </a:spcAft>
                        <a:buNone/>
                      </a:pPr>
                      <a:r>
                        <a:rPr b="1" lang="en-US"/>
                        <a:t>Metric</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t>Meaning</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a:t>TP</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t>Model predicted Positive, actually Positive</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a:t>FP</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t>Model predicted Positive, actually Negative</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a:t>FN</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t>Model predicted Negative, actually Positive</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a:t>TN</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t>Model predicted Negative, actually Negative</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c85563ff4c_0_5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Metrics</a:t>
            </a:r>
            <a:r>
              <a:rPr lang="en-US" sz="4400">
                <a:solidFill>
                  <a:schemeClr val="dk1"/>
                </a:solidFill>
                <a:latin typeface="Calibri"/>
                <a:ea typeface="Calibri"/>
                <a:cs typeface="Calibri"/>
                <a:sym typeface="Calibri"/>
              </a:rPr>
              <a:t> in Confusion Matrix</a:t>
            </a:r>
            <a:endParaRPr/>
          </a:p>
        </p:txBody>
      </p:sp>
      <p:pic>
        <p:nvPicPr>
          <p:cNvPr id="351" name="Google Shape;351;g3c85563ff4c_0_532"/>
          <p:cNvPicPr preferRelativeResize="0"/>
          <p:nvPr/>
        </p:nvPicPr>
        <p:blipFill>
          <a:blip r:embed="rId3">
            <a:alphaModFix/>
          </a:blip>
          <a:stretch>
            <a:fillRect/>
          </a:stretch>
        </p:blipFill>
        <p:spPr>
          <a:xfrm>
            <a:off x="152400" y="1765988"/>
            <a:ext cx="4248150" cy="1276350"/>
          </a:xfrm>
          <a:prstGeom prst="rect">
            <a:avLst/>
          </a:prstGeom>
          <a:noFill/>
          <a:ln>
            <a:noFill/>
          </a:ln>
        </p:spPr>
      </p:pic>
      <p:pic>
        <p:nvPicPr>
          <p:cNvPr id="352" name="Google Shape;352;g3c85563ff4c_0_532"/>
          <p:cNvPicPr preferRelativeResize="0"/>
          <p:nvPr/>
        </p:nvPicPr>
        <p:blipFill>
          <a:blip r:embed="rId4">
            <a:alphaModFix/>
          </a:blip>
          <a:stretch>
            <a:fillRect/>
          </a:stretch>
        </p:blipFill>
        <p:spPr>
          <a:xfrm>
            <a:off x="133350" y="3147951"/>
            <a:ext cx="4286250" cy="1085850"/>
          </a:xfrm>
          <a:prstGeom prst="rect">
            <a:avLst/>
          </a:prstGeom>
          <a:noFill/>
          <a:ln>
            <a:noFill/>
          </a:ln>
        </p:spPr>
      </p:pic>
      <p:pic>
        <p:nvPicPr>
          <p:cNvPr id="353" name="Google Shape;353;g3c85563ff4c_0_532"/>
          <p:cNvPicPr preferRelativeResize="0"/>
          <p:nvPr/>
        </p:nvPicPr>
        <p:blipFill>
          <a:blip r:embed="rId5">
            <a:alphaModFix/>
          </a:blip>
          <a:stretch>
            <a:fillRect/>
          </a:stretch>
        </p:blipFill>
        <p:spPr>
          <a:xfrm>
            <a:off x="4591050" y="1836713"/>
            <a:ext cx="3733800" cy="1200150"/>
          </a:xfrm>
          <a:prstGeom prst="rect">
            <a:avLst/>
          </a:prstGeom>
          <a:noFill/>
          <a:ln>
            <a:noFill/>
          </a:ln>
        </p:spPr>
      </p:pic>
      <p:pic>
        <p:nvPicPr>
          <p:cNvPr id="354" name="Google Shape;354;g3c85563ff4c_0_532"/>
          <p:cNvPicPr preferRelativeResize="0"/>
          <p:nvPr/>
        </p:nvPicPr>
        <p:blipFill rotWithShape="1">
          <a:blip r:embed="rId6">
            <a:alphaModFix/>
          </a:blip>
          <a:srcRect b="10666" l="0" r="0" t="0"/>
          <a:stretch/>
        </p:blipFill>
        <p:spPr>
          <a:xfrm>
            <a:off x="4591050" y="3147949"/>
            <a:ext cx="4438650" cy="1276350"/>
          </a:xfrm>
          <a:prstGeom prst="rect">
            <a:avLst/>
          </a:prstGeom>
          <a:noFill/>
          <a:ln>
            <a:noFill/>
          </a:ln>
        </p:spPr>
      </p:pic>
      <p:pic>
        <p:nvPicPr>
          <p:cNvPr id="355" name="Google Shape;355;g3c85563ff4c_0_532"/>
          <p:cNvPicPr preferRelativeResize="0"/>
          <p:nvPr/>
        </p:nvPicPr>
        <p:blipFill>
          <a:blip r:embed="rId7">
            <a:alphaModFix/>
          </a:blip>
          <a:stretch>
            <a:fillRect/>
          </a:stretch>
        </p:blipFill>
        <p:spPr>
          <a:xfrm>
            <a:off x="1866900" y="4535375"/>
            <a:ext cx="5410200" cy="12382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c85563ff4c_0_543"/>
          <p:cNvSpPr txBox="1"/>
          <p:nvPr>
            <p:ph type="title"/>
          </p:nvPr>
        </p:nvSpPr>
        <p:spPr>
          <a:xfrm>
            <a:off x="457200" y="2445113"/>
            <a:ext cx="8229600" cy="2363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sz="6000">
                <a:solidFill>
                  <a:schemeClr val="dk1"/>
                </a:solidFill>
                <a:latin typeface="Calibri"/>
                <a:ea typeface="Calibri"/>
                <a:cs typeface="Calibri"/>
                <a:sym typeface="Calibri"/>
              </a:rPr>
              <a:t>Student’s T-Test</a:t>
            </a:r>
            <a:endParaRPr sz="6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c85563ff4c_0_5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Student</a:t>
            </a:r>
            <a:r>
              <a:rPr lang="en-US" sz="4400">
                <a:solidFill>
                  <a:schemeClr val="dk1"/>
                </a:solidFill>
                <a:latin typeface="Calibri"/>
                <a:ea typeface="Calibri"/>
                <a:cs typeface="Calibri"/>
                <a:sym typeface="Calibri"/>
              </a:rPr>
              <a:t>’s T-Test</a:t>
            </a:r>
            <a:endParaRPr/>
          </a:p>
        </p:txBody>
      </p:sp>
      <p:sp>
        <p:nvSpPr>
          <p:cNvPr id="366" name="Google Shape;366;g3c85563ff4c_0_54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 t-test (also known as Student's t-test) is a tool for evaluating the means of one or two populations using hypothesis testing. A t-test may be used to evaluate whether a single group differs from a known value (a one-sample t-test), whether two groups differ from each other (an independent two-sample t-test), or whether there is a significant difference in paired measurements (a paired, or dependent samples t-test).</a:t>
            </a:r>
            <a:endParaRPr sz="1890">
              <a:solidFill>
                <a:schemeClr val="dk1"/>
              </a:solidFill>
              <a:latin typeface="Calibri"/>
              <a:ea typeface="Calibri"/>
              <a:cs typeface="Calibri"/>
              <a:sym typeface="Calibri"/>
            </a:endParaRPr>
          </a:p>
        </p:txBody>
      </p:sp>
      <p:graphicFrame>
        <p:nvGraphicFramePr>
          <p:cNvPr id="367" name="Google Shape;367;g3c85563ff4c_0_547"/>
          <p:cNvGraphicFramePr/>
          <p:nvPr/>
        </p:nvGraphicFramePr>
        <p:xfrm>
          <a:off x="830650" y="4417925"/>
          <a:ext cx="3000000" cy="3000000"/>
        </p:xfrm>
        <a:graphic>
          <a:graphicData uri="http://schemas.openxmlformats.org/drawingml/2006/table">
            <a:tbl>
              <a:tblPr>
                <a:noFill/>
                <a:tableStyleId>{797E7BFC-4989-4B1F-BA66-CAACD3B82B48}</a:tableStyleId>
              </a:tblPr>
              <a:tblGrid>
                <a:gridCol w="1214675"/>
                <a:gridCol w="2721825"/>
                <a:gridCol w="3801550"/>
              </a:tblGrid>
              <a:tr h="200025">
                <a:tc>
                  <a:txBody>
                    <a:bodyPr/>
                    <a:lstStyle/>
                    <a:p>
                      <a:pPr indent="0" lvl="0" marL="0" rtl="0" algn="ctr">
                        <a:lnSpc>
                          <a:spcPct val="115000"/>
                        </a:lnSpc>
                        <a:spcBef>
                          <a:spcPts val="0"/>
                        </a:spcBef>
                        <a:spcAft>
                          <a:spcPts val="0"/>
                        </a:spcAft>
                        <a:buNone/>
                      </a:pPr>
                      <a:r>
                        <a:rPr b="1" lang="en-US" sz="1100"/>
                        <a:t>α Value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Meaning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Usage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0.10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10% error allowed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Exploratory studies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0.05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5% error allowed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Most common in research</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a:t>0.01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1% error allowed</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Very strict studies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c8903ed477_0_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Pre-defined </a:t>
            </a:r>
            <a:r>
              <a:rPr lang="en-US" sz="4400">
                <a:solidFill>
                  <a:schemeClr val="dk1"/>
                </a:solidFill>
                <a:latin typeface="Calibri"/>
                <a:ea typeface="Calibri"/>
                <a:cs typeface="Calibri"/>
                <a:sym typeface="Calibri"/>
              </a:rPr>
              <a:t>T-Table</a:t>
            </a:r>
            <a:endParaRPr/>
          </a:p>
        </p:txBody>
      </p:sp>
      <p:graphicFrame>
        <p:nvGraphicFramePr>
          <p:cNvPr id="373" name="Google Shape;373;g3c8903ed477_0_8"/>
          <p:cNvGraphicFramePr/>
          <p:nvPr/>
        </p:nvGraphicFramePr>
        <p:xfrm>
          <a:off x="457213" y="1267775"/>
          <a:ext cx="3000000" cy="3000000"/>
        </p:xfrm>
        <a:graphic>
          <a:graphicData uri="http://schemas.openxmlformats.org/drawingml/2006/table">
            <a:tbl>
              <a:tblPr>
                <a:noFill/>
                <a:tableStyleId>{797E7BFC-4989-4B1F-BA66-CAACD3B82B48}</a:tableStyleId>
              </a:tblPr>
              <a:tblGrid>
                <a:gridCol w="602175"/>
                <a:gridCol w="1906850"/>
                <a:gridCol w="1906850"/>
                <a:gridCol w="1906850"/>
                <a:gridCol w="1906850"/>
              </a:tblGrid>
              <a:tr h="200025">
                <a:tc>
                  <a:txBody>
                    <a:bodyPr/>
                    <a:lstStyle/>
                    <a:p>
                      <a:pPr indent="0" lvl="0" marL="0" rtl="0" algn="ctr">
                        <a:lnSpc>
                          <a:spcPct val="115000"/>
                        </a:lnSpc>
                        <a:spcBef>
                          <a:spcPts val="0"/>
                        </a:spcBef>
                        <a:spcAft>
                          <a:spcPts val="0"/>
                        </a:spcAft>
                        <a:buNone/>
                      </a:pPr>
                      <a:r>
                        <a:rPr b="1" lang="en-US" sz="1100"/>
                        <a:t>df</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α = 0.10</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α = 0.05</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α = 0.02</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α = 0.01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6.314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12.706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31.821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63.657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2.920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4.303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6.965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9.925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2.353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3.182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4.541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5.841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2.132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2.776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3.747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4.604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2.015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2.571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3.365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4.032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1.943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2.447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3.143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3.707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1.895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2.365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2.998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3.499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1.860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2.306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2.896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3.355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1.833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2.262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2.821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3.250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1.812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2.228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2.764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3.169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1.725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2.086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2.528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2.845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30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1.697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2.042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2.457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2.750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1.645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1.960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2.326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2.576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c8903ed477_0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Example</a:t>
            </a:r>
            <a:endParaRPr/>
          </a:p>
        </p:txBody>
      </p:sp>
      <p:sp>
        <p:nvSpPr>
          <p:cNvPr id="379" name="Google Shape;379;g3c8903ed477_0_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 teacher claims that the average marks of students is 50.</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 sample of 5 students has marks:</a:t>
            </a:r>
            <a:endParaRPr sz="2260">
              <a:solidFill>
                <a:schemeClr val="dk1"/>
              </a:solidFill>
              <a:latin typeface="Calibri"/>
              <a:ea typeface="Calibri"/>
              <a:cs typeface="Calibri"/>
              <a:sym typeface="Calibri"/>
            </a:endParaRPr>
          </a:p>
          <a:p>
            <a:pPr indent="0" lvl="0" marL="0" rtl="0" algn="just">
              <a:lnSpc>
                <a:spcPct val="105000"/>
              </a:lnSpc>
              <a:spcBef>
                <a:spcPts val="0"/>
              </a:spcBef>
              <a:spcAft>
                <a:spcPts val="0"/>
              </a:spcAft>
              <a:buNone/>
            </a:pPr>
            <a:r>
              <a:rPr lang="en-US" sz="2260">
                <a:solidFill>
                  <a:schemeClr val="dk1"/>
                </a:solidFill>
                <a:latin typeface="Calibri"/>
                <a:ea typeface="Calibri"/>
                <a:cs typeface="Calibri"/>
                <a:sym typeface="Calibri"/>
              </a:rPr>
              <a:t>52, 48, 55, 49, 46</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At α = 0.05, test whether the true mean is different from 50.</a:t>
            </a:r>
            <a:endParaRPr sz="226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c8903ed477_0_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Solution</a:t>
            </a:r>
            <a:endParaRPr/>
          </a:p>
        </p:txBody>
      </p:sp>
      <p:pic>
        <p:nvPicPr>
          <p:cNvPr id="385" name="Google Shape;385;g3c8903ed477_0_22"/>
          <p:cNvPicPr preferRelativeResize="0"/>
          <p:nvPr/>
        </p:nvPicPr>
        <p:blipFill>
          <a:blip r:embed="rId3">
            <a:alphaModFix/>
          </a:blip>
          <a:stretch>
            <a:fillRect/>
          </a:stretch>
        </p:blipFill>
        <p:spPr>
          <a:xfrm rot="-5400000">
            <a:off x="-467849" y="2181825"/>
            <a:ext cx="5344198" cy="4008151"/>
          </a:xfrm>
          <a:prstGeom prst="rect">
            <a:avLst/>
          </a:prstGeom>
          <a:noFill/>
          <a:ln>
            <a:noFill/>
          </a:ln>
        </p:spPr>
      </p:pic>
      <p:pic>
        <p:nvPicPr>
          <p:cNvPr id="386" name="Google Shape;386;g3c8903ed477_0_22"/>
          <p:cNvPicPr preferRelativeResize="0"/>
          <p:nvPr/>
        </p:nvPicPr>
        <p:blipFill>
          <a:blip r:embed="rId4">
            <a:alphaModFix/>
          </a:blip>
          <a:stretch>
            <a:fillRect/>
          </a:stretch>
        </p:blipFill>
        <p:spPr>
          <a:xfrm>
            <a:off x="4360726" y="1570038"/>
            <a:ext cx="4104437" cy="513556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c8903ed477_0_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Solution</a:t>
            </a:r>
            <a:endParaRPr/>
          </a:p>
        </p:txBody>
      </p:sp>
      <p:pic>
        <p:nvPicPr>
          <p:cNvPr id="392" name="Google Shape;392;g3c8903ed477_0_29"/>
          <p:cNvPicPr preferRelativeResize="0"/>
          <p:nvPr/>
        </p:nvPicPr>
        <p:blipFill rotWithShape="1">
          <a:blip r:embed="rId3">
            <a:alphaModFix/>
          </a:blip>
          <a:srcRect b="24683" l="0" r="0" t="27432"/>
          <a:stretch/>
        </p:blipFill>
        <p:spPr>
          <a:xfrm>
            <a:off x="1756063" y="1631113"/>
            <a:ext cx="5631876" cy="35957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c8903ed477_0_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Solve it yourself!</a:t>
            </a:r>
            <a:endParaRPr/>
          </a:p>
        </p:txBody>
      </p:sp>
      <p:sp>
        <p:nvSpPr>
          <p:cNvPr id="398" name="Google Shape;398;g3c8903ed477_0_4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 company claims that a machine fills bottles with an average of 500 ml.</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You suspect the machine may be filling too much or too little.</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You collect a sample of 6 bottles:</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502, 498, 505, 497, 501, 496</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Test at α = 0.05 whether the true mean is different from 500 ml.</a:t>
            </a:r>
            <a:endParaRPr sz="226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c8903ed477_0_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Solve it yourself!</a:t>
            </a:r>
            <a:endParaRPr/>
          </a:p>
        </p:txBody>
      </p:sp>
      <p:pic>
        <p:nvPicPr>
          <p:cNvPr id="404" name="Google Shape;404;g3c8903ed477_0_47"/>
          <p:cNvPicPr preferRelativeResize="0"/>
          <p:nvPr/>
        </p:nvPicPr>
        <p:blipFill rotWithShape="1">
          <a:blip r:embed="rId3">
            <a:alphaModFix/>
          </a:blip>
          <a:srcRect b="13889" l="0" r="0" t="17315"/>
          <a:stretch/>
        </p:blipFill>
        <p:spPr>
          <a:xfrm>
            <a:off x="152400" y="1535425"/>
            <a:ext cx="4199168" cy="5135549"/>
          </a:xfrm>
          <a:prstGeom prst="rect">
            <a:avLst/>
          </a:prstGeom>
          <a:noFill/>
          <a:ln>
            <a:noFill/>
          </a:ln>
        </p:spPr>
      </p:pic>
      <p:pic>
        <p:nvPicPr>
          <p:cNvPr id="405" name="Google Shape;405;g3c8903ed477_0_47"/>
          <p:cNvPicPr preferRelativeResize="0"/>
          <p:nvPr/>
        </p:nvPicPr>
        <p:blipFill>
          <a:blip r:embed="rId4">
            <a:alphaModFix/>
          </a:blip>
          <a:stretch>
            <a:fillRect/>
          </a:stretch>
        </p:blipFill>
        <p:spPr>
          <a:xfrm>
            <a:off x="4738825" y="1535413"/>
            <a:ext cx="3947963" cy="513556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c8903ed477_0_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Solve it yourself!</a:t>
            </a:r>
            <a:endParaRPr/>
          </a:p>
        </p:txBody>
      </p:sp>
      <p:pic>
        <p:nvPicPr>
          <p:cNvPr id="411" name="Google Shape;411;g3c8903ed477_0_54"/>
          <p:cNvPicPr preferRelativeResize="0"/>
          <p:nvPr/>
        </p:nvPicPr>
        <p:blipFill>
          <a:blip r:embed="rId3">
            <a:alphaModFix/>
          </a:blip>
          <a:stretch>
            <a:fillRect/>
          </a:stretch>
        </p:blipFill>
        <p:spPr>
          <a:xfrm>
            <a:off x="2525800" y="1518088"/>
            <a:ext cx="4092401" cy="513556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c8903ed477_0_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Solve it yourself!</a:t>
            </a:r>
            <a:endParaRPr/>
          </a:p>
        </p:txBody>
      </p:sp>
      <p:sp>
        <p:nvSpPr>
          <p:cNvPr id="417" name="Google Shape;417;g3c8903ed477_0_3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 factory claims that the average lifetime of its batteries is 100 hours.</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 random sample of 8 batteries gives the following lifetimes (in hours):</a:t>
            </a:r>
            <a:endParaRPr sz="2260">
              <a:solidFill>
                <a:schemeClr val="dk1"/>
              </a:solidFill>
              <a:latin typeface="Calibri"/>
              <a:ea typeface="Calibri"/>
              <a:cs typeface="Calibri"/>
              <a:sym typeface="Calibri"/>
            </a:endParaRPr>
          </a:p>
          <a:p>
            <a:pPr indent="0" lvl="0" marL="0" rtl="0" algn="just">
              <a:lnSpc>
                <a:spcPct val="105000"/>
              </a:lnSpc>
              <a:spcBef>
                <a:spcPts val="0"/>
              </a:spcBef>
              <a:spcAft>
                <a:spcPts val="0"/>
              </a:spcAft>
              <a:buNone/>
            </a:pPr>
            <a:r>
              <a:rPr lang="en-US" sz="2260">
                <a:solidFill>
                  <a:schemeClr val="dk1"/>
                </a:solidFill>
                <a:latin typeface="Calibri"/>
                <a:ea typeface="Calibri"/>
                <a:cs typeface="Calibri"/>
                <a:sym typeface="Calibri"/>
              </a:rPr>
              <a:t>98, 102, 95, 101, 99, 97, 103, 96</a:t>
            </a:r>
            <a:endParaRPr sz="2260">
              <a:solidFill>
                <a:schemeClr val="dk1"/>
              </a:solidFill>
              <a:latin typeface="Calibri"/>
              <a:ea typeface="Calibri"/>
              <a:cs typeface="Calibri"/>
              <a:sym typeface="Calibri"/>
            </a:endParaRPr>
          </a:p>
          <a:p>
            <a:pPr indent="-283210" lvl="0" marL="342900" rtl="0" algn="just">
              <a:lnSpc>
                <a:spcPct val="105000"/>
              </a:lnSpc>
              <a:spcBef>
                <a:spcPts val="0"/>
              </a:spcBef>
              <a:spcAft>
                <a:spcPts val="0"/>
              </a:spcAft>
              <a:buClr>
                <a:schemeClr val="dk1"/>
              </a:buClr>
              <a:buSzPts val="2260"/>
              <a:buChar char="●"/>
            </a:pPr>
            <a:r>
              <a:rPr lang="en-US" sz="2260">
                <a:solidFill>
                  <a:schemeClr val="dk1"/>
                </a:solidFill>
                <a:latin typeface="Calibri"/>
                <a:ea typeface="Calibri"/>
                <a:cs typeface="Calibri"/>
                <a:sym typeface="Calibri"/>
              </a:rPr>
              <a:t>At α = 0.05, test whether the true mean lifetime is different from 100 hours.</a:t>
            </a:r>
            <a:endParaRPr sz="226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c8903ed477_0_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ROC Curve</a:t>
            </a:r>
            <a:endParaRPr/>
          </a:p>
        </p:txBody>
      </p:sp>
      <p:sp>
        <p:nvSpPr>
          <p:cNvPr id="423" name="Google Shape;423;g3c8903ed477_0_6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The Receiver Operating Characteristic (ROC) curve is a graphical evaluation tool used to assess the performance of a binary classification model.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It illustrates the trade-off between the True Positive Rate (TPR), also known as sensitivity or recall, and the False Positive Rate (FPR) at various threshold settings.</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The TPR measures the proportion of actual positive cases that are correctly identified by the model, while the FPR measures the proportion of actual negative cases that are incorrectly classified as positive.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By plotting FPR on the x-axis and TPR on the y-axis, the ROC curve shows how well the classifier distinguishes between the two classes.</a:t>
            </a:r>
            <a:endParaRPr sz="246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c8903ed477_0_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ROC Curve</a:t>
            </a:r>
            <a:endParaRPr/>
          </a:p>
        </p:txBody>
      </p:sp>
      <p:pic>
        <p:nvPicPr>
          <p:cNvPr id="429" name="Google Shape;429;g3c8903ed477_0_67"/>
          <p:cNvPicPr preferRelativeResize="0"/>
          <p:nvPr/>
        </p:nvPicPr>
        <p:blipFill>
          <a:blip r:embed="rId3">
            <a:alphaModFix/>
          </a:blip>
          <a:stretch>
            <a:fillRect/>
          </a:stretch>
        </p:blipFill>
        <p:spPr>
          <a:xfrm>
            <a:off x="207825" y="1417650"/>
            <a:ext cx="5056901" cy="5056901"/>
          </a:xfrm>
          <a:prstGeom prst="rect">
            <a:avLst/>
          </a:prstGeom>
          <a:noFill/>
          <a:ln>
            <a:noFill/>
          </a:ln>
        </p:spPr>
      </p:pic>
      <p:pic>
        <p:nvPicPr>
          <p:cNvPr descr="roc_curve.png" id="430" name="Google Shape;430;g3c8903ed477_0_67"/>
          <p:cNvPicPr preferRelativeResize="0"/>
          <p:nvPr/>
        </p:nvPicPr>
        <p:blipFill rotWithShape="1">
          <a:blip r:embed="rId4">
            <a:alphaModFix/>
          </a:blip>
          <a:srcRect b="0" l="0" r="0" t="0"/>
          <a:stretch/>
        </p:blipFill>
        <p:spPr>
          <a:xfrm>
            <a:off x="5521023" y="2279773"/>
            <a:ext cx="3501750" cy="262631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3c8903ed477_0_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ROC Curve</a:t>
            </a:r>
            <a:endParaRPr/>
          </a:p>
        </p:txBody>
      </p:sp>
      <p:sp>
        <p:nvSpPr>
          <p:cNvPr id="436" name="Google Shape;436;g3c8903ed477_0_7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An important metric associated with the ROC curve is the Area Under the Curve (AUC). The AUC provides a single numerical value representing the model’s overall performance.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A model with an AUC value close to 1 indicates excellent discriminative ability, whereas an AUC of 0.5 suggests that the model performs no better than random guessing.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ROC curves are particularly useful in fields such as medical diagnosis, fraud detection, and risk prediction, where evaluating the trade-off between sensitivity and specificity is critical.</a:t>
            </a:r>
            <a:endParaRPr sz="246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c8903ed477_0_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EDA (Exploratory Data Analysis)</a:t>
            </a:r>
            <a:endParaRPr/>
          </a:p>
        </p:txBody>
      </p:sp>
      <p:sp>
        <p:nvSpPr>
          <p:cNvPr id="442" name="Google Shape;442;g3c8903ed477_0_7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Exploratory Data Analysis (EDA) is the process of analyzing datasets to summarize their main characteristics, often using visual and statistical methods.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It is performed before applying formal modeling or hypothesis testing techniques.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The primary goal of EDA is to understand the structure of the data, identify patterns and relationships, detect anomalies or outliers, and verify assumptions. </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lang="en-US" sz="2360">
                <a:solidFill>
                  <a:schemeClr val="dk1"/>
                </a:solidFill>
                <a:latin typeface="Calibri"/>
                <a:ea typeface="Calibri"/>
                <a:cs typeface="Calibri"/>
                <a:sym typeface="Calibri"/>
              </a:rPr>
              <a:t>By exploring the dataset, researchers gain insights that guide further analysis and model development.</a:t>
            </a:r>
            <a:endParaRPr sz="246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c8903ed477_0_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EDA (Exploratory Data Analysis)</a:t>
            </a:r>
            <a:endParaRPr/>
          </a:p>
        </p:txBody>
      </p:sp>
      <p:pic>
        <p:nvPicPr>
          <p:cNvPr id="448" name="Google Shape;448;g3c8903ed477_0_84"/>
          <p:cNvPicPr preferRelativeResize="0"/>
          <p:nvPr/>
        </p:nvPicPr>
        <p:blipFill>
          <a:blip r:embed="rId3">
            <a:alphaModFix/>
          </a:blip>
          <a:stretch>
            <a:fillRect/>
          </a:stretch>
        </p:blipFill>
        <p:spPr>
          <a:xfrm>
            <a:off x="457200" y="1928925"/>
            <a:ext cx="8229601" cy="463284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c8903ed477_0_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Key Aspects of EDA</a:t>
            </a:r>
            <a:endParaRPr sz="4400">
              <a:solidFill>
                <a:schemeClr val="dk1"/>
              </a:solidFill>
              <a:latin typeface="Calibri"/>
              <a:ea typeface="Calibri"/>
              <a:cs typeface="Calibri"/>
              <a:sym typeface="Calibri"/>
            </a:endParaRPr>
          </a:p>
        </p:txBody>
      </p:sp>
      <p:sp>
        <p:nvSpPr>
          <p:cNvPr id="454" name="Google Shape;454;g3c8903ed477_0_9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289560" lvl="0" marL="342900" rtl="0" algn="just">
              <a:lnSpc>
                <a:spcPct val="105000"/>
              </a:lnSpc>
              <a:spcBef>
                <a:spcPts val="0"/>
              </a:spcBef>
              <a:spcAft>
                <a:spcPts val="0"/>
              </a:spcAft>
              <a:buClr>
                <a:schemeClr val="dk1"/>
              </a:buClr>
              <a:buSzPts val="2360"/>
              <a:buChar char="●"/>
            </a:pPr>
            <a:r>
              <a:rPr b="1" lang="en-US" sz="2360">
                <a:solidFill>
                  <a:schemeClr val="dk1"/>
                </a:solidFill>
                <a:latin typeface="Calibri"/>
                <a:ea typeface="Calibri"/>
                <a:cs typeface="Calibri"/>
                <a:sym typeface="Calibri"/>
              </a:rPr>
              <a:t>Data Cleaning &amp; Preprocessing:</a:t>
            </a:r>
            <a:r>
              <a:rPr lang="en-US" sz="2360">
                <a:solidFill>
                  <a:schemeClr val="dk1"/>
                </a:solidFill>
                <a:latin typeface="Calibri"/>
                <a:ea typeface="Calibri"/>
                <a:cs typeface="Calibri"/>
                <a:sym typeface="Calibri"/>
              </a:rPr>
              <a:t> Identifying missing values, duplicate data, and structural errors.</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b="1" lang="en-US" sz="2360">
                <a:solidFill>
                  <a:schemeClr val="dk1"/>
                </a:solidFill>
                <a:latin typeface="Calibri"/>
                <a:ea typeface="Calibri"/>
                <a:cs typeface="Calibri"/>
                <a:sym typeface="Calibri"/>
              </a:rPr>
              <a:t>Descriptive Statistics: </a:t>
            </a:r>
            <a:r>
              <a:rPr lang="en-US" sz="2360">
                <a:solidFill>
                  <a:schemeClr val="dk1"/>
                </a:solidFill>
                <a:latin typeface="Calibri"/>
                <a:ea typeface="Calibri"/>
                <a:cs typeface="Calibri"/>
                <a:sym typeface="Calibri"/>
              </a:rPr>
              <a:t>Summarizing data using metrics like mean, median, mode, and standard deviation.</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b="1" lang="en-US" sz="2360">
                <a:solidFill>
                  <a:schemeClr val="dk1"/>
                </a:solidFill>
                <a:latin typeface="Calibri"/>
                <a:ea typeface="Calibri"/>
                <a:cs typeface="Calibri"/>
                <a:sym typeface="Calibri"/>
              </a:rPr>
              <a:t>Data Visualization:</a:t>
            </a:r>
            <a:r>
              <a:rPr lang="en-US" sz="2360">
                <a:solidFill>
                  <a:schemeClr val="dk1"/>
                </a:solidFill>
                <a:latin typeface="Calibri"/>
                <a:ea typeface="Calibri"/>
                <a:cs typeface="Calibri"/>
                <a:sym typeface="Calibri"/>
              </a:rPr>
              <a:t> Using charts such as histograms, scatter plots, box plots, and heatmaps to visualize distributions and relationships.</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b="1" lang="en-US" sz="2360">
                <a:solidFill>
                  <a:schemeClr val="dk1"/>
                </a:solidFill>
                <a:latin typeface="Calibri"/>
                <a:ea typeface="Calibri"/>
                <a:cs typeface="Calibri"/>
                <a:sym typeface="Calibri"/>
              </a:rPr>
              <a:t>Outlier Detection: </a:t>
            </a:r>
            <a:r>
              <a:rPr lang="en-US" sz="2360">
                <a:solidFill>
                  <a:schemeClr val="dk1"/>
                </a:solidFill>
                <a:latin typeface="Calibri"/>
                <a:ea typeface="Calibri"/>
                <a:cs typeface="Calibri"/>
                <a:sym typeface="Calibri"/>
              </a:rPr>
              <a:t>Identifying anomalies that could skew analysis.</a:t>
            </a:r>
            <a:endParaRPr sz="2360">
              <a:solidFill>
                <a:schemeClr val="dk1"/>
              </a:solidFill>
              <a:latin typeface="Calibri"/>
              <a:ea typeface="Calibri"/>
              <a:cs typeface="Calibri"/>
              <a:sym typeface="Calibri"/>
            </a:endParaRPr>
          </a:p>
          <a:p>
            <a:pPr indent="-289560" lvl="0" marL="342900" rtl="0" algn="just">
              <a:lnSpc>
                <a:spcPct val="105000"/>
              </a:lnSpc>
              <a:spcBef>
                <a:spcPts val="0"/>
              </a:spcBef>
              <a:spcAft>
                <a:spcPts val="0"/>
              </a:spcAft>
              <a:buClr>
                <a:schemeClr val="dk1"/>
              </a:buClr>
              <a:buSzPts val="2360"/>
              <a:buChar char="●"/>
            </a:pPr>
            <a:r>
              <a:rPr b="1" lang="en-US" sz="2360">
                <a:solidFill>
                  <a:schemeClr val="dk1"/>
                </a:solidFill>
                <a:latin typeface="Calibri"/>
                <a:ea typeface="Calibri"/>
                <a:cs typeface="Calibri"/>
                <a:sym typeface="Calibri"/>
              </a:rPr>
              <a:t>Correlation Analysis: </a:t>
            </a:r>
            <a:r>
              <a:rPr lang="en-US" sz="2360">
                <a:solidFill>
                  <a:schemeClr val="dk1"/>
                </a:solidFill>
                <a:latin typeface="Calibri"/>
                <a:ea typeface="Calibri"/>
                <a:cs typeface="Calibri"/>
                <a:sym typeface="Calibri"/>
              </a:rPr>
              <a:t>Understanding relationships between variables (e.g., Pearson correlation).</a:t>
            </a:r>
            <a:endParaRPr sz="236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c8903ed477_0_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Main Techniques Used in EDA</a:t>
            </a:r>
            <a:endParaRPr sz="4400">
              <a:solidFill>
                <a:schemeClr val="dk1"/>
              </a:solidFill>
              <a:latin typeface="Calibri"/>
              <a:ea typeface="Calibri"/>
              <a:cs typeface="Calibri"/>
              <a:sym typeface="Calibri"/>
            </a:endParaRPr>
          </a:p>
        </p:txBody>
      </p:sp>
      <p:sp>
        <p:nvSpPr>
          <p:cNvPr id="460" name="Google Shape;460;g3c8903ed477_0_9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8610" lvl="0" marL="342900" rtl="0" algn="just">
              <a:lnSpc>
                <a:spcPct val="105000"/>
              </a:lnSpc>
              <a:spcBef>
                <a:spcPts val="0"/>
              </a:spcBef>
              <a:spcAft>
                <a:spcPts val="0"/>
              </a:spcAft>
              <a:buClr>
                <a:schemeClr val="dk1"/>
              </a:buClr>
              <a:buSzPts val="2660"/>
              <a:buChar char="●"/>
            </a:pPr>
            <a:r>
              <a:rPr b="1" lang="en-US" sz="2660">
                <a:solidFill>
                  <a:schemeClr val="dk1"/>
                </a:solidFill>
                <a:latin typeface="Calibri"/>
                <a:ea typeface="Calibri"/>
                <a:cs typeface="Calibri"/>
                <a:sym typeface="Calibri"/>
              </a:rPr>
              <a:t>Univariate Analysis:</a:t>
            </a:r>
            <a:r>
              <a:rPr lang="en-US" sz="2660">
                <a:solidFill>
                  <a:schemeClr val="dk1"/>
                </a:solidFill>
                <a:latin typeface="Calibri"/>
                <a:ea typeface="Calibri"/>
                <a:cs typeface="Calibri"/>
                <a:sym typeface="Calibri"/>
              </a:rPr>
              <a:t> Analyzing a single variable to understand its distribution (e.g., histograms).</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b="1" lang="en-US" sz="2660">
                <a:solidFill>
                  <a:schemeClr val="dk1"/>
                </a:solidFill>
                <a:latin typeface="Calibri"/>
                <a:ea typeface="Calibri"/>
                <a:cs typeface="Calibri"/>
                <a:sym typeface="Calibri"/>
              </a:rPr>
              <a:t>Bivariate/Multivariate Analysis:</a:t>
            </a:r>
            <a:r>
              <a:rPr lang="en-US" sz="2660">
                <a:solidFill>
                  <a:schemeClr val="dk1"/>
                </a:solidFill>
                <a:latin typeface="Calibri"/>
                <a:ea typeface="Calibri"/>
                <a:cs typeface="Calibri"/>
                <a:sym typeface="Calibri"/>
              </a:rPr>
              <a:t> Investigating relationships between two or more variables (e.g., scatter plots, heatmaps).</a:t>
            </a:r>
            <a:endParaRPr sz="2660">
              <a:solidFill>
                <a:schemeClr val="dk1"/>
              </a:solidFill>
              <a:latin typeface="Calibri"/>
              <a:ea typeface="Calibri"/>
              <a:cs typeface="Calibri"/>
              <a:sym typeface="Calibri"/>
            </a:endParaRPr>
          </a:p>
        </p:txBody>
      </p:sp>
      <p:pic>
        <p:nvPicPr>
          <p:cNvPr id="461" name="Google Shape;461;g3c8903ed477_0_95"/>
          <p:cNvPicPr preferRelativeResize="0"/>
          <p:nvPr/>
        </p:nvPicPr>
        <p:blipFill>
          <a:blip r:embed="rId3">
            <a:alphaModFix/>
          </a:blip>
          <a:stretch>
            <a:fillRect/>
          </a:stretch>
        </p:blipFill>
        <p:spPr>
          <a:xfrm>
            <a:off x="1593275" y="3775375"/>
            <a:ext cx="5957450" cy="29787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c8903ed477_0_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Philosophy of Exploratory Data Analysis</a:t>
            </a:r>
            <a:endParaRPr sz="4400">
              <a:solidFill>
                <a:schemeClr val="dk1"/>
              </a:solidFill>
              <a:latin typeface="Calibri"/>
              <a:ea typeface="Calibri"/>
              <a:cs typeface="Calibri"/>
              <a:sym typeface="Calibri"/>
            </a:endParaRPr>
          </a:p>
        </p:txBody>
      </p:sp>
      <p:sp>
        <p:nvSpPr>
          <p:cNvPr id="467" name="Google Shape;467;g3c8903ed477_0_10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The philosophy of Exploratory Data Analysis emphasizes understanding data before applying complex statistical models.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This approach was strongly promoted by John Tukey, who believed that data analysis should focus on discovering patterns and insights rather than merely confirming predefined hypotheses.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According to this philosophy, analysts should allow the data to reveal its structure through visualization and open-minded exploration.</a:t>
            </a:r>
            <a:endParaRPr sz="266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c8903ed477_0_1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Basic Tools of EDA</a:t>
            </a:r>
            <a:endParaRPr/>
          </a:p>
        </p:txBody>
      </p:sp>
      <p:sp>
        <p:nvSpPr>
          <p:cNvPr id="473" name="Google Shape;473;g3c8903ed477_0_13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Plots: Histogram, Boxplot, Scatterplot.</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Graphs: Line charts, Bar charts.</a:t>
            </a:r>
            <a:endParaRPr/>
          </a:p>
          <a:p>
            <a:pPr indent="-285750" lvl="1" marL="742950" rtl="0" algn="l">
              <a:spcBef>
                <a:spcPts val="560"/>
              </a:spcBef>
              <a:spcAft>
                <a:spcPts val="1200"/>
              </a:spcAft>
              <a:buClr>
                <a:schemeClr val="dk1"/>
              </a:buClr>
              <a:buSzPts val="2800"/>
              <a:buChar char="○"/>
            </a:pPr>
            <a:r>
              <a:rPr lang="en-US" sz="2800">
                <a:solidFill>
                  <a:schemeClr val="dk1"/>
                </a:solidFill>
                <a:latin typeface="Calibri"/>
                <a:ea typeface="Calibri"/>
                <a:cs typeface="Calibri"/>
                <a:sym typeface="Calibri"/>
              </a:rPr>
              <a:t>Summary statistics: Mean, Median, Std Dev.</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c8903ed477_0_129"/>
          <p:cNvSpPr txBox="1"/>
          <p:nvPr>
            <p:ph type="title"/>
          </p:nvPr>
        </p:nvSpPr>
        <p:spPr>
          <a:xfrm>
            <a:off x="727800" y="268825"/>
            <a:ext cx="7688400" cy="713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EDA Histogram Example</a:t>
            </a:r>
            <a:endParaRPr/>
          </a:p>
        </p:txBody>
      </p:sp>
      <p:pic>
        <p:nvPicPr>
          <p:cNvPr descr="eda_histogram.png" id="479" name="Google Shape;479;g3c8903ed477_0_129"/>
          <p:cNvPicPr preferRelativeResize="0"/>
          <p:nvPr/>
        </p:nvPicPr>
        <p:blipFill rotWithShape="1">
          <a:blip r:embed="rId3">
            <a:alphaModFix/>
          </a:blip>
          <a:srcRect b="0" l="0" r="0" t="0"/>
          <a:stretch/>
        </p:blipFill>
        <p:spPr>
          <a:xfrm>
            <a:off x="914400" y="1188720"/>
            <a:ext cx="5486400" cy="4114800"/>
          </a:xfrm>
          <a:prstGeom prst="rect">
            <a:avLst/>
          </a:prstGeom>
          <a:noFill/>
          <a:ln>
            <a:noFill/>
          </a:ln>
        </p:spPr>
      </p:pic>
      <p:sp>
        <p:nvSpPr>
          <p:cNvPr id="480" name="Google Shape;480;g3c8903ed477_0_129"/>
          <p:cNvSpPr txBox="1"/>
          <p:nvPr/>
        </p:nvSpPr>
        <p:spPr>
          <a:xfrm>
            <a:off x="914400" y="4572000"/>
            <a:ext cx="7315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Histogram helps visualize distribution of data.</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c8903ed477_0_1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The Data Science Process</a:t>
            </a:r>
            <a:endParaRPr sz="4400">
              <a:solidFill>
                <a:schemeClr val="dk1"/>
              </a:solidFill>
              <a:latin typeface="Calibri"/>
              <a:ea typeface="Calibri"/>
              <a:cs typeface="Calibri"/>
              <a:sym typeface="Calibri"/>
            </a:endParaRPr>
          </a:p>
        </p:txBody>
      </p:sp>
      <p:sp>
        <p:nvSpPr>
          <p:cNvPr id="486" name="Google Shape;486;g3c8903ed477_0_1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10000"/>
          </a:bodyPr>
          <a:lstStyle/>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The Data Science Process is a structured framework that guides the transformation of raw data into actionable insights.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It typically begins with problem definition, where the objective and scope of the analysis are clearly identified.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This is followed by data collection from relevant sources.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Once the data is gathered, data cleaning and preprocessing are performed to handle missing values, inconsistencies, and noise.</a:t>
            </a:r>
            <a:endParaRPr sz="266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c8903ed477_0_1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The Data Science Process</a:t>
            </a:r>
            <a:endParaRPr sz="4400">
              <a:solidFill>
                <a:schemeClr val="dk1"/>
              </a:solidFill>
              <a:latin typeface="Calibri"/>
              <a:ea typeface="Calibri"/>
              <a:cs typeface="Calibri"/>
              <a:sym typeface="Calibri"/>
            </a:endParaRPr>
          </a:p>
        </p:txBody>
      </p:sp>
      <p:sp>
        <p:nvSpPr>
          <p:cNvPr id="492" name="Google Shape;492;g3c8903ed477_0_11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After cleaning, Exploratory Data Analysis is conducted to understand patterns, correlations, and distributions.</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Feature engineering is then applied to create meaningful variables that improve model performance.</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The next stage involves model building using suitable machine learning or statistical techniques.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Model evaluation follows, where performance metrics such as accuracy, precision, recall, confusion matrix, and ROC curves are used to assess effectiveness.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Finally, the model is deployed in a real-world environment and continuously monitored to ensure sustained performance.</a:t>
            </a:r>
            <a:endParaRPr sz="266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c8903ed477_0_1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The Data Science Process</a:t>
            </a:r>
            <a:endParaRPr sz="4400">
              <a:solidFill>
                <a:schemeClr val="dk1"/>
              </a:solidFill>
              <a:latin typeface="Calibri"/>
              <a:ea typeface="Calibri"/>
              <a:cs typeface="Calibri"/>
              <a:sym typeface="Calibri"/>
            </a:endParaRPr>
          </a:p>
        </p:txBody>
      </p:sp>
      <p:sp>
        <p:nvSpPr>
          <p:cNvPr id="498" name="Google Shape;498;g3c8903ed477_0_12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The Data Science Process ensures that analysis is systematic, reproducible, and aligned with real-world objectives. </a:t>
            </a:r>
            <a:endParaRPr sz="2660">
              <a:solidFill>
                <a:schemeClr val="dk1"/>
              </a:solidFill>
              <a:latin typeface="Calibri"/>
              <a:ea typeface="Calibri"/>
              <a:cs typeface="Calibri"/>
              <a:sym typeface="Calibri"/>
            </a:endParaRPr>
          </a:p>
          <a:p>
            <a:pPr indent="-308610" lvl="0" marL="342900" rtl="0" algn="just">
              <a:lnSpc>
                <a:spcPct val="105000"/>
              </a:lnSpc>
              <a:spcBef>
                <a:spcPts val="0"/>
              </a:spcBef>
              <a:spcAft>
                <a:spcPts val="0"/>
              </a:spcAft>
              <a:buClr>
                <a:schemeClr val="dk1"/>
              </a:buClr>
              <a:buSzPts val="2660"/>
              <a:buChar char="●"/>
            </a:pPr>
            <a:r>
              <a:rPr lang="en-US" sz="2660">
                <a:solidFill>
                  <a:schemeClr val="dk1"/>
                </a:solidFill>
                <a:latin typeface="Calibri"/>
                <a:ea typeface="Calibri"/>
                <a:cs typeface="Calibri"/>
                <a:sym typeface="Calibri"/>
              </a:rPr>
              <a:t>It integrates statistical reasoning, computational tools, and domain knowledge to derive meaningful insights from data.</a:t>
            </a:r>
            <a:endParaRPr sz="266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c8903ed477_0_1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The Data Science Process</a:t>
            </a:r>
            <a:endParaRPr/>
          </a:p>
        </p:txBody>
      </p:sp>
      <p:sp>
        <p:nvSpPr>
          <p:cNvPr id="504" name="Google Shape;504;g3c8903ed477_0_14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1. Problem Definition</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2. Data Collection</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3. Data Preprocessing</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4. EDA</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5. Modeling</a:t>
            </a:r>
            <a:endParaRPr/>
          </a:p>
          <a:p>
            <a:pPr indent="-285750" lvl="1" marL="74295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6. Evaluation</a:t>
            </a:r>
            <a:endParaRPr/>
          </a:p>
          <a:p>
            <a:pPr indent="-285750" lvl="1" marL="742950" rtl="0" algn="l">
              <a:spcBef>
                <a:spcPts val="560"/>
              </a:spcBef>
              <a:spcAft>
                <a:spcPts val="1200"/>
              </a:spcAft>
              <a:buClr>
                <a:schemeClr val="dk1"/>
              </a:buClr>
              <a:buSzPts val="2800"/>
              <a:buChar char="○"/>
            </a:pPr>
            <a:r>
              <a:rPr lang="en-US" sz="2800">
                <a:solidFill>
                  <a:schemeClr val="dk1"/>
                </a:solidFill>
                <a:latin typeface="Calibri"/>
                <a:ea typeface="Calibri"/>
                <a:cs typeface="Calibri"/>
                <a:sym typeface="Calibri"/>
              </a:rPr>
              <a:t>7. Deployment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3c8903ed477_0_146"/>
          <p:cNvSpPr txBox="1"/>
          <p:nvPr>
            <p:ph type="title"/>
          </p:nvPr>
        </p:nvSpPr>
        <p:spPr>
          <a:xfrm>
            <a:off x="457200" y="3045563"/>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